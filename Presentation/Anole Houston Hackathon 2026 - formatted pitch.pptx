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A0DFA97-2353-4922-9D6B-892FB966012F}">
  <a:tblStyle styleId="{7A0DFA97-2353-4922-9D6B-892FB966012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hd9c1a9808707a3c_3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hd9c1a9808707a3c_3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hd9c1a9808707a3c_3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hd9c1a9808707a3c_3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hd9c1a9808707a3c_3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hd9c1a9808707a3c_3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hd9c1a9808707a3c_55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hd9c1a9808707a3c_55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hd9c1a9808707a3c_55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hd9c1a9808707a3c_55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hd9c1a9808707a3c_3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hd9c1a9808707a3c_3_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hyperlink" Target="http://drive.google.com/file/d/1Ccl3H2R045g0ooJrUNBmgkBmvHEnHvxc/view" TargetMode="External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drive.google.com/file/d/1XwiFlkYmpf3AmajQyAm4YeBWDG0aMKKy/view" TargetMode="External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drive.google.com/file/d/1OHYJ1ukePZuZHjs98rewLeGwpiGtWt1G/view" TargetMode="External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hyperlink" Target="http://drive.google.com/file/d/1fFLSbaqLKQncEHMFMAyaP2DEFEizvM3J/view" TargetMode="External"/><Relationship Id="rId5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hyperlink" Target="http://drive.google.com/file/d/1fvc7IMe3kyngXz8TaTv9y6BahOaswE_d/view" TargetMode="External"/><Relationship Id="rId5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hyperlink" Target="http://drive.google.com/file/d/16NzpVD7sg73YGD7X8Ala7dDtjKbxEiE1/view" TargetMode="External"/><Relationship Id="rId5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hyperlink" Target="http://drive.google.com/file/d/1GXu6NskO3qKyWVuKgAJ3QZmSRiueJ6cQ/view" TargetMode="External"/><Relationship Id="rId5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hyperlink" Target="http://drive.google.com/file/d/1Ba7zMMydeIYXp2Jv7ruEaqAbDN_uJ0BX/view" TargetMode="External"/><Relationship Id="rId5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9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hyperlink" Target="http://drive.google.com/file/d/1fNhmyGevJA1vONNGrYa1ybrHRpHQDekO/view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hyperlink" Target="http://drive.google.com/file/d/1APpbAqC8CsOGTVog13ei9pmfmgk3EP0y/view" TargetMode="External"/><Relationship Id="rId5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hyperlink" Target="http://drive.google.com/file/d/1jiH9cvMGL8Kj1t9P9rFX2EWvImLAsqBi/view" TargetMode="External"/><Relationship Id="rId5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hyperlink" Target="http://drive.google.com/file/d/1EEWKcy5SuRWnhV6DPGZtxHL4qV90W10l/view" TargetMode="External"/><Relationship Id="rId5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hyperlink" Target="http://drive.google.com/file/d/1RnAeVsDCFWCs0pK_WCOg5i7nmK1FeGGA/view" TargetMode="External"/><Relationship Id="rId5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6268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502920" y="4782312"/>
            <a:ext cx="8138160" cy="16459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502920" y="4846320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ANOLE  /  HOUSTON HACKATHON 2026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8229600" y="4837176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389275" y="704625"/>
            <a:ext cx="47880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anole</a:t>
            </a:r>
            <a:endParaRPr b="1" i="0" sz="6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</a:rPr>
              <a:t>Capturing platform and APP</a:t>
            </a:r>
            <a:endParaRPr b="1" sz="2800">
              <a:solidFill>
                <a:srgbClr val="FFFFFF"/>
              </a:solidFill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585222" y="2930780"/>
            <a:ext cx="7772400" cy="9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picture tells a thousand words.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rgbClr val="FFFFFF"/>
                </a:solidFill>
              </a:rPr>
              <a:t>So </a:t>
            </a: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Let’s tell our story.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585216" y="3913632"/>
            <a:ext cx="7772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Johann Ries,  </a:t>
            </a:r>
            <a:r>
              <a:rPr lang="en-US" sz="1600">
                <a:solidFill>
                  <a:srgbClr val="FFFFFF"/>
                </a:solidFill>
              </a:rPr>
              <a:t>M</a:t>
            </a: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ike </a:t>
            </a:r>
            <a:r>
              <a:rPr lang="en-US" sz="1600">
                <a:solidFill>
                  <a:srgbClr val="FFFFFF"/>
                </a:solidFill>
              </a:rPr>
              <a:t>T</a:t>
            </a: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/   Houston Hackathon 2026</a:t>
            </a:r>
            <a:endParaRPr/>
          </a:p>
        </p:txBody>
      </p:sp>
      <p:pic>
        <p:nvPicPr>
          <p:cNvPr id="90" name="Google Shape;90;p13" title="ano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25" y="148902"/>
            <a:ext cx="3255950" cy="2604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3" title="Slide 01.mp3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57625" y="4426332"/>
            <a:ext cx="317580" cy="3175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4EA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/>
          <p:nvPr/>
        </p:nvSpPr>
        <p:spPr>
          <a:xfrm>
            <a:off x="502920" y="256032"/>
            <a:ext cx="7315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A6268"/>
                </a:solidFill>
              </a:rPr>
              <a:t>THE PROBLEM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521150" y="466824"/>
            <a:ext cx="8184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3A34"/>
                </a:solidFill>
              </a:rPr>
              <a:t>During</a:t>
            </a:r>
            <a:r>
              <a:rPr b="1" lang="en-US" sz="3000">
                <a:solidFill>
                  <a:srgbClr val="263A34"/>
                </a:solidFill>
              </a:rPr>
              <a:t> the launch of the hackathon we noticed a trend. 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502920" y="4782312"/>
            <a:ext cx="8138160" cy="16459"/>
          </a:xfrm>
          <a:prstGeom prst="rect">
            <a:avLst/>
          </a:prstGeom>
          <a:solidFill>
            <a:srgbClr val="E7E4D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502920" y="4846320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0716C"/>
                </a:solidFill>
                <a:latin typeface="Arial"/>
                <a:ea typeface="Arial"/>
                <a:cs typeface="Arial"/>
                <a:sym typeface="Arial"/>
              </a:rPr>
              <a:t>ANOLE  /  HOUSTON HACKATHON 2026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229600" y="4837176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0716C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35450" y="2657575"/>
            <a:ext cx="81840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263A34"/>
                </a:solidFill>
              </a:rPr>
              <a:t>Examples include:</a:t>
            </a:r>
            <a:endParaRPr sz="2100">
              <a:solidFill>
                <a:srgbClr val="263A34"/>
              </a:solidFill>
            </a:endParaRPr>
          </a:p>
          <a:p>
            <a:pPr indent="-3619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63A34"/>
              </a:buClr>
              <a:buSzPts val="2100"/>
              <a:buChar char="●"/>
            </a:pPr>
            <a:r>
              <a:rPr lang="en-US" sz="2100">
                <a:solidFill>
                  <a:srgbClr val="263A34"/>
                </a:solidFill>
              </a:rPr>
              <a:t>p</a:t>
            </a:r>
            <a:r>
              <a:rPr lang="en-US" sz="2100">
                <a:solidFill>
                  <a:srgbClr val="263A34"/>
                </a:solidFill>
              </a:rPr>
              <a:t>laces to escape the heat, </a:t>
            </a:r>
            <a:endParaRPr sz="2100">
              <a:solidFill>
                <a:srgbClr val="263A34"/>
              </a:solidFill>
            </a:endParaRPr>
          </a:p>
          <a:p>
            <a:pPr indent="-3619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63A34"/>
              </a:buClr>
              <a:buSzPts val="2100"/>
              <a:buChar char="●"/>
            </a:pPr>
            <a:r>
              <a:rPr lang="en-US" sz="2100">
                <a:solidFill>
                  <a:srgbClr val="263A34"/>
                </a:solidFill>
              </a:rPr>
              <a:t>faulty streetlights, </a:t>
            </a:r>
            <a:endParaRPr sz="2100">
              <a:solidFill>
                <a:srgbClr val="263A34"/>
              </a:solidFill>
            </a:endParaRPr>
          </a:p>
          <a:p>
            <a:pPr indent="-3619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63A34"/>
              </a:buClr>
              <a:buSzPts val="2100"/>
              <a:buChar char="●"/>
            </a:pPr>
            <a:r>
              <a:rPr lang="en-US" sz="2100">
                <a:solidFill>
                  <a:srgbClr val="263A34"/>
                </a:solidFill>
              </a:rPr>
              <a:t>damaged sidewalks and accessible facilities. </a:t>
            </a:r>
            <a:endParaRPr sz="2100">
              <a:solidFill>
                <a:srgbClr val="263A34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263A34"/>
                </a:solidFill>
              </a:rPr>
              <a:t>Each topic needs a way to capture local observations and show them on a map.</a:t>
            </a:r>
            <a:endParaRPr sz="2100">
              <a:solidFill>
                <a:srgbClr val="263A34"/>
              </a:solidFill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521160" y="1528685"/>
            <a:ext cx="73200" cy="932700"/>
          </a:xfrm>
          <a:prstGeom prst="rect">
            <a:avLst/>
          </a:prstGeom>
          <a:solidFill>
            <a:srgbClr val="B84A3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800098" y="1487135"/>
            <a:ext cx="7543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A6268"/>
                </a:solidFill>
              </a:rPr>
              <a:t>Many Houston Hackathon pitches begin with the same need: someone notices something useful or concerning, records where it is, and shares it with their community.</a:t>
            </a:r>
            <a:endParaRPr b="1" sz="2200">
              <a:solidFill>
                <a:srgbClr val="0A6268"/>
              </a:solidFill>
            </a:endParaRPr>
          </a:p>
        </p:txBody>
      </p:sp>
      <p:pic>
        <p:nvPicPr>
          <p:cNvPr id="104" name="Google Shape;104;p14" title="Slide 02.mp3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68700" y="4451908"/>
            <a:ext cx="291992" cy="2919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4EA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"/>
          <p:cNvSpPr txBox="1"/>
          <p:nvPr/>
        </p:nvSpPr>
        <p:spPr>
          <a:xfrm>
            <a:off x="502920" y="256032"/>
            <a:ext cx="7315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A6268"/>
                </a:solidFill>
              </a:rPr>
              <a:t>THE PROBLEM</a:t>
            </a:r>
            <a:endParaRPr b="1" sz="1000">
              <a:solidFill>
                <a:srgbClr val="0A6268"/>
              </a:solidFill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502925" y="621796"/>
            <a:ext cx="818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3A34"/>
                </a:solidFill>
              </a:rPr>
              <a:t>There are other </a:t>
            </a:r>
            <a:r>
              <a:rPr b="1" lang="en-US" sz="3000">
                <a:solidFill>
                  <a:srgbClr val="263A34"/>
                </a:solidFill>
              </a:rPr>
              <a:t>sharing</a:t>
            </a:r>
            <a:r>
              <a:rPr b="1" lang="en-US" sz="3000">
                <a:solidFill>
                  <a:srgbClr val="263A34"/>
                </a:solidFill>
              </a:rPr>
              <a:t> </a:t>
            </a:r>
            <a:r>
              <a:rPr b="1" lang="en-US" sz="3000">
                <a:solidFill>
                  <a:srgbClr val="263A34"/>
                </a:solidFill>
              </a:rPr>
              <a:t>platforms</a:t>
            </a:r>
            <a:endParaRPr/>
          </a:p>
        </p:txBody>
      </p:sp>
      <p:sp>
        <p:nvSpPr>
          <p:cNvPr id="111" name="Google Shape;111;p15"/>
          <p:cNvSpPr/>
          <p:nvPr/>
        </p:nvSpPr>
        <p:spPr>
          <a:xfrm>
            <a:off x="502920" y="4782312"/>
            <a:ext cx="8138100" cy="16500"/>
          </a:xfrm>
          <a:prstGeom prst="rect">
            <a:avLst/>
          </a:prstGeom>
          <a:solidFill>
            <a:srgbClr val="E7E4D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502920" y="4846320"/>
            <a:ext cx="5486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0716C"/>
                </a:solidFill>
                <a:latin typeface="Arial"/>
                <a:ea typeface="Arial"/>
                <a:cs typeface="Arial"/>
                <a:sym typeface="Arial"/>
              </a:rPr>
              <a:t>ANOLE  /  HOUSTON HACKATHON 2026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8229600" y="4837176"/>
            <a:ext cx="3657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0716C"/>
                </a:solidFill>
              </a:rPr>
              <a:t>03</a:t>
            </a:r>
            <a:endParaRPr/>
          </a:p>
        </p:txBody>
      </p:sp>
      <p:sp>
        <p:nvSpPr>
          <p:cNvPr id="114" name="Google Shape;114;p15"/>
          <p:cNvSpPr/>
          <p:nvPr/>
        </p:nvSpPr>
        <p:spPr>
          <a:xfrm>
            <a:off x="617235" y="3370385"/>
            <a:ext cx="73200" cy="932700"/>
          </a:xfrm>
          <a:prstGeom prst="rect">
            <a:avLst/>
          </a:prstGeom>
          <a:solidFill>
            <a:srgbClr val="B84A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617225" y="1295375"/>
            <a:ext cx="79782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-311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A34"/>
              </a:buClr>
              <a:buSzPts val="2200"/>
              <a:buChar char="●"/>
            </a:pPr>
            <a:r>
              <a:rPr lang="en-US" sz="2200">
                <a:solidFill>
                  <a:srgbClr val="263A34"/>
                </a:solidFill>
              </a:rPr>
              <a:t>Houston 311 helps residents report city service issues. </a:t>
            </a:r>
            <a:endParaRPr sz="2200">
              <a:solidFill>
                <a:srgbClr val="263A34"/>
              </a:solidFill>
            </a:endParaRPr>
          </a:p>
          <a:p>
            <a:pPr indent="-311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A34"/>
              </a:buClr>
              <a:buSzPts val="2200"/>
              <a:buChar char="●"/>
            </a:pPr>
            <a:r>
              <a:rPr lang="en-US" sz="2200">
                <a:solidFill>
                  <a:srgbClr val="263A34"/>
                </a:solidFill>
              </a:rPr>
              <a:t>Google Maps and social media help people find or share places. </a:t>
            </a:r>
            <a:br>
              <a:rPr lang="en-US" sz="2200">
                <a:solidFill>
                  <a:srgbClr val="263A34"/>
                </a:solidFill>
              </a:rPr>
            </a:br>
            <a:endParaRPr sz="2200">
              <a:solidFill>
                <a:srgbClr val="263A34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263A34"/>
              </a:solidFill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823023" y="3498035"/>
            <a:ext cx="75438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2200">
                <a:solidFill>
                  <a:srgbClr val="0A6268"/>
                </a:solidFill>
              </a:rPr>
              <a:t>But a community group may need its own questions, observations and map for a specific topic.</a:t>
            </a:r>
            <a:endParaRPr sz="2200"/>
          </a:p>
        </p:txBody>
      </p:sp>
      <p:pic>
        <p:nvPicPr>
          <p:cNvPr id="117" name="Google Shape;117;p15" title="Slide 03.mp3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66835" y="4441860"/>
            <a:ext cx="302077" cy="3020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4EA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6"/>
          <p:cNvSpPr txBox="1"/>
          <p:nvPr/>
        </p:nvSpPr>
        <p:spPr>
          <a:xfrm>
            <a:off x="502920" y="256032"/>
            <a:ext cx="7315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A6268"/>
                </a:solidFill>
              </a:rPr>
              <a:t>THE SOLUTION</a:t>
            </a:r>
            <a:endParaRPr b="1" sz="1000">
              <a:solidFill>
                <a:srgbClr val="0A6268"/>
              </a:solidFill>
            </a:endParaRPr>
          </a:p>
        </p:txBody>
      </p:sp>
      <p:sp>
        <p:nvSpPr>
          <p:cNvPr id="123" name="Google Shape;123;p16"/>
          <p:cNvSpPr txBox="1"/>
          <p:nvPr/>
        </p:nvSpPr>
        <p:spPr>
          <a:xfrm>
            <a:off x="502925" y="621796"/>
            <a:ext cx="818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3A34"/>
                </a:solidFill>
              </a:rPr>
              <a:t>This is where Anole fills the gap. </a:t>
            </a:r>
            <a:endParaRPr/>
          </a:p>
        </p:txBody>
      </p:sp>
      <p:sp>
        <p:nvSpPr>
          <p:cNvPr id="124" name="Google Shape;124;p16"/>
          <p:cNvSpPr/>
          <p:nvPr/>
        </p:nvSpPr>
        <p:spPr>
          <a:xfrm>
            <a:off x="502920" y="4782312"/>
            <a:ext cx="8138100" cy="16500"/>
          </a:xfrm>
          <a:prstGeom prst="rect">
            <a:avLst/>
          </a:prstGeom>
          <a:solidFill>
            <a:srgbClr val="E7E4D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6"/>
          <p:cNvSpPr txBox="1"/>
          <p:nvPr/>
        </p:nvSpPr>
        <p:spPr>
          <a:xfrm>
            <a:off x="502920" y="4846320"/>
            <a:ext cx="5486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0716C"/>
                </a:solidFill>
                <a:latin typeface="Arial"/>
                <a:ea typeface="Arial"/>
                <a:cs typeface="Arial"/>
                <a:sym typeface="Arial"/>
              </a:rPr>
              <a:t>ANOLE  /  HOUSTON HACKATHON 2026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8229600" y="4837176"/>
            <a:ext cx="3657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0716C"/>
                </a:solidFill>
              </a:rPr>
              <a:t>04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617235" y="1420743"/>
            <a:ext cx="79554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263A34"/>
                </a:solidFill>
              </a:rPr>
              <a:t>Anole would let a community organiser </a:t>
            </a:r>
            <a:r>
              <a:rPr b="1" lang="en-US" sz="2200">
                <a:solidFill>
                  <a:srgbClr val="263A34"/>
                </a:solidFill>
              </a:rPr>
              <a:t>create a topic page</a:t>
            </a:r>
            <a:r>
              <a:rPr lang="en-US" sz="2200">
                <a:solidFill>
                  <a:srgbClr val="263A34"/>
                </a:solidFill>
              </a:rPr>
              <a:t>, choose what information to collect and </a:t>
            </a:r>
            <a:r>
              <a:rPr b="1" lang="en-US" sz="2200">
                <a:solidFill>
                  <a:srgbClr val="263A34"/>
                </a:solidFill>
              </a:rPr>
              <a:t>invite </a:t>
            </a:r>
            <a:r>
              <a:rPr lang="en-US" sz="2200">
                <a:solidFill>
                  <a:srgbClr val="263A34"/>
                </a:solidFill>
              </a:rPr>
              <a:t>communities</a:t>
            </a:r>
            <a:r>
              <a:rPr lang="en-US" sz="2200">
                <a:solidFill>
                  <a:srgbClr val="263A34"/>
                </a:solidFill>
              </a:rPr>
              <a:t> to </a:t>
            </a:r>
            <a:r>
              <a:rPr b="1" lang="en-US" sz="2200">
                <a:solidFill>
                  <a:srgbClr val="263A34"/>
                </a:solidFill>
              </a:rPr>
              <a:t>contribute.</a:t>
            </a:r>
            <a:endParaRPr b="1" sz="2200">
              <a:solidFill>
                <a:srgbClr val="263A34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263A34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28" name="Google Shape;128;p16"/>
          <p:cNvSpPr txBox="1"/>
          <p:nvPr/>
        </p:nvSpPr>
        <p:spPr>
          <a:xfrm>
            <a:off x="800073" y="3378585"/>
            <a:ext cx="7543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A6268"/>
                </a:solidFill>
              </a:rPr>
              <a:t>Each proposed submission would include a location, photo and details, building a shared picture of what is happening nearby.</a:t>
            </a:r>
            <a:endParaRPr b="1" sz="2200">
              <a:solidFill>
                <a:srgbClr val="0A6268"/>
              </a:solidFill>
            </a:endParaRPr>
          </a:p>
        </p:txBody>
      </p:sp>
      <p:pic>
        <p:nvPicPr>
          <p:cNvPr id="129" name="Google Shape;129;p16" title="ano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0500" y="1"/>
            <a:ext cx="1683500" cy="134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/>
          <p:nvPr/>
        </p:nvSpPr>
        <p:spPr>
          <a:xfrm>
            <a:off x="617235" y="3370385"/>
            <a:ext cx="73200" cy="932700"/>
          </a:xfrm>
          <a:prstGeom prst="rect">
            <a:avLst/>
          </a:prstGeom>
          <a:solidFill>
            <a:srgbClr val="B84A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1" name="Google Shape;131;p16" title="Slide 04.mp3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67275" y="4449500"/>
            <a:ext cx="294425" cy="29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4EA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7"/>
          <p:cNvSpPr txBox="1"/>
          <p:nvPr/>
        </p:nvSpPr>
        <p:spPr>
          <a:xfrm>
            <a:off x="502920" y="256032"/>
            <a:ext cx="7315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A6268"/>
                </a:solidFill>
              </a:rPr>
              <a:t>THE SOLUTION</a:t>
            </a:r>
            <a:endParaRPr b="1" sz="1000">
              <a:solidFill>
                <a:srgbClr val="0A6268"/>
              </a:solidFill>
            </a:endParaRPr>
          </a:p>
        </p:txBody>
      </p:sp>
      <p:sp>
        <p:nvSpPr>
          <p:cNvPr id="137" name="Google Shape;137;p17"/>
          <p:cNvSpPr txBox="1"/>
          <p:nvPr/>
        </p:nvSpPr>
        <p:spPr>
          <a:xfrm>
            <a:off x="502925" y="621796"/>
            <a:ext cx="818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3A34"/>
                </a:solidFill>
              </a:rPr>
              <a:t>How Anole would work.</a:t>
            </a:r>
            <a:endParaRPr/>
          </a:p>
        </p:txBody>
      </p:sp>
      <p:sp>
        <p:nvSpPr>
          <p:cNvPr id="138" name="Google Shape;138;p17"/>
          <p:cNvSpPr/>
          <p:nvPr/>
        </p:nvSpPr>
        <p:spPr>
          <a:xfrm>
            <a:off x="502920" y="4782312"/>
            <a:ext cx="8138100" cy="16500"/>
          </a:xfrm>
          <a:prstGeom prst="rect">
            <a:avLst/>
          </a:prstGeom>
          <a:solidFill>
            <a:srgbClr val="E7E4D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7"/>
          <p:cNvSpPr txBox="1"/>
          <p:nvPr/>
        </p:nvSpPr>
        <p:spPr>
          <a:xfrm>
            <a:off x="502920" y="4846320"/>
            <a:ext cx="5486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0716C"/>
                </a:solidFill>
                <a:latin typeface="Arial"/>
                <a:ea typeface="Arial"/>
                <a:cs typeface="Arial"/>
                <a:sym typeface="Arial"/>
              </a:rPr>
              <a:t>ANOLE  /  HOUSTON HACKATHON 2026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8229600" y="4837176"/>
            <a:ext cx="3657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0716C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900">
                <a:solidFill>
                  <a:srgbClr val="60716C"/>
                </a:solidFill>
              </a:rPr>
              <a:t>5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617235" y="1232642"/>
            <a:ext cx="7955400" cy="21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263A34"/>
                </a:solidFill>
              </a:rPr>
              <a:t>Anole’s </a:t>
            </a:r>
            <a:r>
              <a:rPr lang="en-US" sz="2200">
                <a:solidFill>
                  <a:srgbClr val="263A34"/>
                </a:solidFill>
              </a:rPr>
              <a:t>vision</a:t>
            </a:r>
            <a:r>
              <a:rPr lang="en-US" sz="2200">
                <a:solidFill>
                  <a:srgbClr val="263A34"/>
                </a:solidFill>
              </a:rPr>
              <a:t> is not just to capture but share information.</a:t>
            </a:r>
            <a:endParaRPr sz="2200">
              <a:solidFill>
                <a:srgbClr val="263A34"/>
              </a:solidFill>
            </a:endParaRPr>
          </a:p>
          <a:p>
            <a:pPr indent="-3683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63A34"/>
              </a:buClr>
              <a:buSzPts val="2200"/>
              <a:buChar char="●"/>
            </a:pPr>
            <a:r>
              <a:rPr lang="en-US" sz="2200">
                <a:solidFill>
                  <a:srgbClr val="263A34"/>
                </a:solidFill>
              </a:rPr>
              <a:t>Organizers can create a topic, choose questions.</a:t>
            </a:r>
            <a:endParaRPr sz="2200">
              <a:solidFill>
                <a:srgbClr val="263A34"/>
              </a:solidFill>
            </a:endParaRPr>
          </a:p>
          <a:p>
            <a:pPr indent="-3683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63A34"/>
              </a:buClr>
              <a:buSzPts val="2200"/>
              <a:buChar char="●"/>
            </a:pPr>
            <a:r>
              <a:rPr lang="en-US" sz="2200">
                <a:solidFill>
                  <a:srgbClr val="263A34"/>
                </a:solidFill>
              </a:rPr>
              <a:t>Share a link or QR code with the community.</a:t>
            </a:r>
            <a:endParaRPr sz="2200">
              <a:solidFill>
                <a:srgbClr val="263A34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63A34"/>
              </a:buClr>
              <a:buSzPts val="2200"/>
              <a:buChar char="●"/>
            </a:pPr>
            <a:r>
              <a:rPr lang="en-US" sz="2200">
                <a:solidFill>
                  <a:srgbClr val="263A34"/>
                </a:solidFill>
              </a:rPr>
              <a:t>Collect photos and location-based observations.</a:t>
            </a:r>
            <a:endParaRPr sz="2200">
              <a:solidFill>
                <a:srgbClr val="263A34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63A34"/>
              </a:buClr>
              <a:buSzPts val="2200"/>
              <a:buChar char="●"/>
            </a:pPr>
            <a:r>
              <a:rPr lang="en-US" sz="2200">
                <a:solidFill>
                  <a:srgbClr val="263A34"/>
                </a:solidFill>
              </a:rPr>
              <a:t>Review contributions and explore them on a shared map.</a:t>
            </a:r>
            <a:endParaRPr sz="2200">
              <a:solidFill>
                <a:srgbClr val="263A34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63A34"/>
              </a:buClr>
              <a:buSzPts val="2200"/>
              <a:buChar char="●"/>
            </a:pPr>
            <a:r>
              <a:rPr lang="en-US" sz="2200">
                <a:solidFill>
                  <a:srgbClr val="263A34"/>
                </a:solidFill>
              </a:rPr>
              <a:t>In the Future perhaps a dashboard for further analysis</a:t>
            </a:r>
            <a:endParaRPr sz="2200">
              <a:solidFill>
                <a:srgbClr val="263A34"/>
              </a:solidFill>
            </a:endParaRPr>
          </a:p>
        </p:txBody>
      </p:sp>
      <p:pic>
        <p:nvPicPr>
          <p:cNvPr id="142" name="Google Shape;142;p17" title="ano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0500" y="1"/>
            <a:ext cx="1683500" cy="134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/>
          <p:nvPr/>
        </p:nvSpPr>
        <p:spPr>
          <a:xfrm>
            <a:off x="617235" y="3370385"/>
            <a:ext cx="73200" cy="932700"/>
          </a:xfrm>
          <a:prstGeom prst="rect">
            <a:avLst/>
          </a:prstGeom>
          <a:solidFill>
            <a:srgbClr val="B84A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 txBox="1"/>
          <p:nvPr/>
        </p:nvSpPr>
        <p:spPr>
          <a:xfrm>
            <a:off x="800073" y="3498035"/>
            <a:ext cx="75438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A6268"/>
                </a:solidFill>
              </a:rPr>
              <a:t>Anole makes it easy and open to use. </a:t>
            </a:r>
            <a:r>
              <a:rPr b="1" lang="en-US" sz="2200">
                <a:solidFill>
                  <a:srgbClr val="0A6268"/>
                </a:solidFill>
              </a:rPr>
              <a:t>Each submission can be </a:t>
            </a:r>
            <a:r>
              <a:rPr b="1" lang="en-US" sz="2200">
                <a:solidFill>
                  <a:srgbClr val="0A6268"/>
                </a:solidFill>
              </a:rPr>
              <a:t>useful</a:t>
            </a:r>
            <a:r>
              <a:rPr b="1" lang="en-US" sz="2200">
                <a:solidFill>
                  <a:srgbClr val="0A6268"/>
                </a:solidFill>
              </a:rPr>
              <a:t> for many reasons.</a:t>
            </a:r>
            <a:endParaRPr b="1" sz="2200">
              <a:solidFill>
                <a:srgbClr val="0A6268"/>
              </a:solidFill>
            </a:endParaRPr>
          </a:p>
        </p:txBody>
      </p:sp>
      <p:pic>
        <p:nvPicPr>
          <p:cNvPr id="145" name="Google Shape;145;p17" title="Slide 05.mp3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84860" y="4480235"/>
            <a:ext cx="302077" cy="3020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4EA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8"/>
          <p:cNvSpPr txBox="1"/>
          <p:nvPr/>
        </p:nvSpPr>
        <p:spPr>
          <a:xfrm>
            <a:off x="502920" y="256032"/>
            <a:ext cx="7315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000">
                <a:solidFill>
                  <a:srgbClr val="0A6268"/>
                </a:solidFill>
              </a:rPr>
              <a:t>CREATOR FLOW</a:t>
            </a:r>
            <a:endParaRPr b="1" sz="1000">
              <a:solidFill>
                <a:srgbClr val="0A6268"/>
              </a:solidFill>
            </a:endParaRPr>
          </a:p>
        </p:txBody>
      </p:sp>
      <p:sp>
        <p:nvSpPr>
          <p:cNvPr id="151" name="Google Shape;151;p18"/>
          <p:cNvSpPr txBox="1"/>
          <p:nvPr/>
        </p:nvSpPr>
        <p:spPr>
          <a:xfrm>
            <a:off x="502920" y="621792"/>
            <a:ext cx="818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3A34"/>
                </a:solidFill>
              </a:rPr>
              <a:t>How a creator starts a topic</a:t>
            </a:r>
            <a:endParaRPr/>
          </a:p>
        </p:txBody>
      </p:sp>
      <p:sp>
        <p:nvSpPr>
          <p:cNvPr id="152" name="Google Shape;152;p18"/>
          <p:cNvSpPr/>
          <p:nvPr/>
        </p:nvSpPr>
        <p:spPr>
          <a:xfrm>
            <a:off x="502920" y="4782312"/>
            <a:ext cx="8138160" cy="16459"/>
          </a:xfrm>
          <a:prstGeom prst="rect">
            <a:avLst/>
          </a:prstGeom>
          <a:solidFill>
            <a:srgbClr val="E7E4D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8"/>
          <p:cNvSpPr txBox="1"/>
          <p:nvPr/>
        </p:nvSpPr>
        <p:spPr>
          <a:xfrm>
            <a:off x="502920" y="4846320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0716C"/>
                </a:solidFill>
                <a:latin typeface="Arial"/>
                <a:ea typeface="Arial"/>
                <a:cs typeface="Arial"/>
                <a:sym typeface="Arial"/>
              </a:rPr>
              <a:t>ANOLE  /  HOUSTON HACKATHON 2026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8229600" y="4837176"/>
            <a:ext cx="3657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0716C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900">
                <a:solidFill>
                  <a:srgbClr val="60716C"/>
                </a:solidFill>
              </a:rPr>
              <a:t>6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502930" y="1627632"/>
            <a:ext cx="567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A6268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995300" y="1640400"/>
            <a:ext cx="2132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100">
                <a:solidFill>
                  <a:srgbClr val="263A34"/>
                </a:solidFill>
              </a:rPr>
              <a:t>Choose a topic</a:t>
            </a:r>
            <a:endParaRPr b="1" sz="2100">
              <a:solidFill>
                <a:srgbClr val="263A34"/>
              </a:solidFill>
            </a:endParaRPr>
          </a:p>
        </p:txBody>
      </p:sp>
      <p:sp>
        <p:nvSpPr>
          <p:cNvPr id="157" name="Google Shape;157;p18"/>
          <p:cNvSpPr txBox="1"/>
          <p:nvPr/>
        </p:nvSpPr>
        <p:spPr>
          <a:xfrm>
            <a:off x="3127248" y="1627632"/>
            <a:ext cx="5139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800">
                <a:solidFill>
                  <a:srgbClr val="263A34"/>
                </a:solidFill>
              </a:rPr>
              <a:t>Start with a local question and decide what details neighbours should record.</a:t>
            </a:r>
            <a:endParaRPr sz="1800">
              <a:solidFill>
                <a:srgbClr val="263A34"/>
              </a:solidFill>
            </a:endParaRPr>
          </a:p>
        </p:txBody>
      </p:sp>
      <p:sp>
        <p:nvSpPr>
          <p:cNvPr id="158" name="Google Shape;158;p18"/>
          <p:cNvSpPr txBox="1"/>
          <p:nvPr/>
        </p:nvSpPr>
        <p:spPr>
          <a:xfrm>
            <a:off x="502930" y="2596896"/>
            <a:ext cx="567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A6268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995300" y="2609663"/>
            <a:ext cx="2132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100">
                <a:solidFill>
                  <a:srgbClr val="263A34"/>
                </a:solidFill>
              </a:rPr>
              <a:t>Share the invitation</a:t>
            </a:r>
            <a:endParaRPr b="1" sz="2100">
              <a:solidFill>
                <a:srgbClr val="263A34"/>
              </a:solidFill>
            </a:endParaRPr>
          </a:p>
        </p:txBody>
      </p:sp>
      <p:sp>
        <p:nvSpPr>
          <p:cNvPr id="160" name="Google Shape;160;p18"/>
          <p:cNvSpPr txBox="1"/>
          <p:nvPr/>
        </p:nvSpPr>
        <p:spPr>
          <a:xfrm>
            <a:off x="3127248" y="2596896"/>
            <a:ext cx="5139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800">
                <a:solidFill>
                  <a:srgbClr val="263A34"/>
                </a:solidFill>
              </a:rPr>
              <a:t>Publish a topic link and QR code so the community can take part.</a:t>
            </a:r>
            <a:endParaRPr sz="1800">
              <a:solidFill>
                <a:srgbClr val="263A34"/>
              </a:solidFill>
            </a:endParaRPr>
          </a:p>
        </p:txBody>
      </p:sp>
      <p:sp>
        <p:nvSpPr>
          <p:cNvPr id="161" name="Google Shape;161;p18"/>
          <p:cNvSpPr txBox="1"/>
          <p:nvPr/>
        </p:nvSpPr>
        <p:spPr>
          <a:xfrm>
            <a:off x="502930" y="3566160"/>
            <a:ext cx="567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A6268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995300" y="3578926"/>
            <a:ext cx="2132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100">
                <a:solidFill>
                  <a:srgbClr val="263A34"/>
                </a:solidFill>
              </a:rPr>
              <a:t>Review map</a:t>
            </a:r>
            <a:endParaRPr b="1" sz="2100">
              <a:solidFill>
                <a:srgbClr val="263A34"/>
              </a:solidFill>
            </a:endParaRPr>
          </a:p>
        </p:txBody>
      </p:sp>
      <p:sp>
        <p:nvSpPr>
          <p:cNvPr id="163" name="Google Shape;163;p18"/>
          <p:cNvSpPr txBox="1"/>
          <p:nvPr/>
        </p:nvSpPr>
        <p:spPr>
          <a:xfrm>
            <a:off x="3127248" y="3566160"/>
            <a:ext cx="5139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800">
                <a:solidFill>
                  <a:srgbClr val="263A34"/>
                </a:solidFill>
              </a:rPr>
              <a:t>Check contributions and use the shared map to guide follow-up.</a:t>
            </a:r>
            <a:endParaRPr sz="1800">
              <a:solidFill>
                <a:srgbClr val="263A34"/>
              </a:solidFill>
            </a:endParaRPr>
          </a:p>
        </p:txBody>
      </p:sp>
      <p:pic>
        <p:nvPicPr>
          <p:cNvPr id="164" name="Google Shape;164;p18" title="ano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0500" y="1"/>
            <a:ext cx="1683500" cy="134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 txBox="1"/>
          <p:nvPr/>
        </p:nvSpPr>
        <p:spPr>
          <a:xfrm>
            <a:off x="502920" y="1192907"/>
            <a:ext cx="7315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000">
                <a:solidFill>
                  <a:srgbClr val="0A6268"/>
                </a:solidFill>
              </a:rPr>
              <a:t>PROPOSED PRODUCT FLOW</a:t>
            </a:r>
            <a:endParaRPr b="1" sz="1000">
              <a:solidFill>
                <a:srgbClr val="0A6268"/>
              </a:solidFill>
            </a:endParaRPr>
          </a:p>
        </p:txBody>
      </p:sp>
      <p:pic>
        <p:nvPicPr>
          <p:cNvPr id="166" name="Google Shape;166;p18" title="Slide 06.mp3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29675" y="4441535"/>
            <a:ext cx="357252" cy="3572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4EA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9"/>
          <p:cNvSpPr txBox="1"/>
          <p:nvPr/>
        </p:nvSpPr>
        <p:spPr>
          <a:xfrm>
            <a:off x="502920" y="256032"/>
            <a:ext cx="7315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000">
                <a:solidFill>
                  <a:srgbClr val="0A6268"/>
                </a:solidFill>
              </a:rPr>
              <a:t>USER </a:t>
            </a:r>
            <a:r>
              <a:rPr b="1" lang="en-US" sz="1000">
                <a:solidFill>
                  <a:srgbClr val="0A6268"/>
                </a:solidFill>
              </a:rPr>
              <a:t> FLOW</a:t>
            </a:r>
            <a:endParaRPr b="1" sz="1000">
              <a:solidFill>
                <a:srgbClr val="0A6268"/>
              </a:solidFill>
            </a:endParaRPr>
          </a:p>
        </p:txBody>
      </p:sp>
      <p:sp>
        <p:nvSpPr>
          <p:cNvPr id="172" name="Google Shape;172;p19"/>
          <p:cNvSpPr txBox="1"/>
          <p:nvPr/>
        </p:nvSpPr>
        <p:spPr>
          <a:xfrm>
            <a:off x="502920" y="621792"/>
            <a:ext cx="818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3000">
                <a:solidFill>
                  <a:srgbClr val="263A34"/>
                </a:solidFill>
              </a:rPr>
              <a:t>How a neighbour contributes</a:t>
            </a:r>
            <a:endParaRPr b="1" sz="3000">
              <a:solidFill>
                <a:srgbClr val="263A34"/>
              </a:solidFill>
            </a:endParaRPr>
          </a:p>
        </p:txBody>
      </p:sp>
      <p:sp>
        <p:nvSpPr>
          <p:cNvPr id="173" name="Google Shape;173;p19"/>
          <p:cNvSpPr/>
          <p:nvPr/>
        </p:nvSpPr>
        <p:spPr>
          <a:xfrm>
            <a:off x="502920" y="4782312"/>
            <a:ext cx="8138100" cy="16500"/>
          </a:xfrm>
          <a:prstGeom prst="rect">
            <a:avLst/>
          </a:prstGeom>
          <a:solidFill>
            <a:srgbClr val="E7E4D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9"/>
          <p:cNvSpPr txBox="1"/>
          <p:nvPr/>
        </p:nvSpPr>
        <p:spPr>
          <a:xfrm>
            <a:off x="502920" y="4846320"/>
            <a:ext cx="5486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0716C"/>
                </a:solidFill>
                <a:latin typeface="Arial"/>
                <a:ea typeface="Arial"/>
                <a:cs typeface="Arial"/>
                <a:sym typeface="Arial"/>
              </a:rPr>
              <a:t>ANOLE  /  HOUSTON HACKATHON 2026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8229600" y="4837176"/>
            <a:ext cx="3657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0716C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900">
                <a:solidFill>
                  <a:srgbClr val="60716C"/>
                </a:solidFill>
              </a:rPr>
              <a:t>7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502930" y="1627632"/>
            <a:ext cx="567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A6268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995300" y="1640400"/>
            <a:ext cx="2132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100">
                <a:solidFill>
                  <a:srgbClr val="263A34"/>
                </a:solidFill>
              </a:rPr>
              <a:t>Open a topic</a:t>
            </a:r>
            <a:endParaRPr b="1" sz="2100">
              <a:solidFill>
                <a:srgbClr val="263A34"/>
              </a:solidFill>
            </a:endParaRPr>
          </a:p>
        </p:txBody>
      </p:sp>
      <p:sp>
        <p:nvSpPr>
          <p:cNvPr id="178" name="Google Shape;178;p19"/>
          <p:cNvSpPr txBox="1"/>
          <p:nvPr/>
        </p:nvSpPr>
        <p:spPr>
          <a:xfrm>
            <a:off x="3127248" y="1627632"/>
            <a:ext cx="5139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800">
                <a:solidFill>
                  <a:srgbClr val="263A34"/>
                </a:solidFill>
              </a:rPr>
              <a:t>Scan its QR code, read the question and explore the topic map.</a:t>
            </a:r>
            <a:endParaRPr sz="1800">
              <a:solidFill>
                <a:srgbClr val="263A34"/>
              </a:solidFill>
            </a:endParaRPr>
          </a:p>
        </p:txBody>
      </p:sp>
      <p:sp>
        <p:nvSpPr>
          <p:cNvPr id="179" name="Google Shape;179;p19"/>
          <p:cNvSpPr txBox="1"/>
          <p:nvPr/>
        </p:nvSpPr>
        <p:spPr>
          <a:xfrm>
            <a:off x="502930" y="2596896"/>
            <a:ext cx="567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A6268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995300" y="2609663"/>
            <a:ext cx="2132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100">
                <a:solidFill>
                  <a:srgbClr val="263A34"/>
                </a:solidFill>
              </a:rPr>
              <a:t>Contribute</a:t>
            </a:r>
            <a:endParaRPr b="1" sz="2100">
              <a:solidFill>
                <a:srgbClr val="263A34"/>
              </a:solidFill>
            </a:endParaRPr>
          </a:p>
        </p:txBody>
      </p:sp>
      <p:sp>
        <p:nvSpPr>
          <p:cNvPr id="181" name="Google Shape;181;p19"/>
          <p:cNvSpPr txBox="1"/>
          <p:nvPr/>
        </p:nvSpPr>
        <p:spPr>
          <a:xfrm>
            <a:off x="3127248" y="2596896"/>
            <a:ext cx="5139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800">
                <a:solidFill>
                  <a:srgbClr val="263A34"/>
                </a:solidFill>
              </a:rPr>
              <a:t>Capture a photo, location, date and what you noticed.</a:t>
            </a:r>
            <a:endParaRPr sz="1800">
              <a:solidFill>
                <a:srgbClr val="263A34"/>
              </a:solidFill>
            </a:endParaRPr>
          </a:p>
        </p:txBody>
      </p:sp>
      <p:sp>
        <p:nvSpPr>
          <p:cNvPr id="182" name="Google Shape;182;p19"/>
          <p:cNvSpPr txBox="1"/>
          <p:nvPr/>
        </p:nvSpPr>
        <p:spPr>
          <a:xfrm>
            <a:off x="502930" y="3566160"/>
            <a:ext cx="567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A6268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995300" y="3578926"/>
            <a:ext cx="2132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100">
                <a:solidFill>
                  <a:srgbClr val="263A34"/>
                </a:solidFill>
              </a:rPr>
              <a:t>Submit</a:t>
            </a:r>
            <a:endParaRPr b="1" sz="2100">
              <a:solidFill>
                <a:srgbClr val="263A34"/>
              </a:solidFill>
            </a:endParaRPr>
          </a:p>
        </p:txBody>
      </p:sp>
      <p:sp>
        <p:nvSpPr>
          <p:cNvPr id="184" name="Google Shape;184;p19"/>
          <p:cNvSpPr txBox="1"/>
          <p:nvPr/>
        </p:nvSpPr>
        <p:spPr>
          <a:xfrm>
            <a:off x="3127248" y="3566160"/>
            <a:ext cx="5139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800">
                <a:solidFill>
                  <a:srgbClr val="263A34"/>
                </a:solidFill>
              </a:rPr>
              <a:t>Check the details before sending them for the creator to review.</a:t>
            </a:r>
            <a:endParaRPr sz="1800">
              <a:solidFill>
                <a:srgbClr val="263A34"/>
              </a:solidFill>
            </a:endParaRPr>
          </a:p>
        </p:txBody>
      </p:sp>
      <p:pic>
        <p:nvPicPr>
          <p:cNvPr id="185" name="Google Shape;185;p19" title="ano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0500" y="1"/>
            <a:ext cx="1683500" cy="134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9"/>
          <p:cNvSpPr txBox="1"/>
          <p:nvPr/>
        </p:nvSpPr>
        <p:spPr>
          <a:xfrm>
            <a:off x="502920" y="1192907"/>
            <a:ext cx="7315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000">
                <a:solidFill>
                  <a:srgbClr val="0A6268"/>
                </a:solidFill>
              </a:rPr>
              <a:t>PROPOSED PRODUCT FLOW</a:t>
            </a:r>
            <a:endParaRPr b="1" sz="1000">
              <a:solidFill>
                <a:srgbClr val="0A6268"/>
              </a:solidFill>
            </a:endParaRPr>
          </a:p>
        </p:txBody>
      </p:sp>
      <p:pic>
        <p:nvPicPr>
          <p:cNvPr id="187" name="Google Shape;187;p19" title="Slide 07.mp3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29675" y="4441560"/>
            <a:ext cx="357252" cy="3572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4EA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0"/>
          <p:cNvSpPr txBox="1"/>
          <p:nvPr/>
        </p:nvSpPr>
        <p:spPr>
          <a:xfrm>
            <a:off x="502920" y="256032"/>
            <a:ext cx="7315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A6268"/>
                </a:solidFill>
                <a:latin typeface="Arial"/>
                <a:ea typeface="Arial"/>
                <a:cs typeface="Arial"/>
                <a:sym typeface="Arial"/>
              </a:rPr>
              <a:t>INTERACTIVE PROTOTYPE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502920" y="621792"/>
            <a:ext cx="818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63A34"/>
                </a:solidFill>
                <a:latin typeface="Arial"/>
                <a:ea typeface="Arial"/>
                <a:cs typeface="Arial"/>
                <a:sym typeface="Arial"/>
              </a:rPr>
              <a:t>What you can try today.</a:t>
            </a:r>
            <a:endParaRPr/>
          </a:p>
        </p:txBody>
      </p:sp>
      <p:sp>
        <p:nvSpPr>
          <p:cNvPr id="194" name="Google Shape;194;p20"/>
          <p:cNvSpPr/>
          <p:nvPr/>
        </p:nvSpPr>
        <p:spPr>
          <a:xfrm>
            <a:off x="502920" y="4782312"/>
            <a:ext cx="8138100" cy="16500"/>
          </a:xfrm>
          <a:prstGeom prst="rect">
            <a:avLst/>
          </a:prstGeom>
          <a:solidFill>
            <a:srgbClr val="E7E4D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502920" y="4846320"/>
            <a:ext cx="5486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0716C"/>
                </a:solidFill>
                <a:latin typeface="Arial"/>
                <a:ea typeface="Arial"/>
                <a:cs typeface="Arial"/>
                <a:sym typeface="Arial"/>
              </a:rPr>
              <a:t>ANOLE  /  HOUSTON HACKATHON 2026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8229600" y="4837176"/>
            <a:ext cx="3657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0716C"/>
                </a:solidFill>
              </a:rPr>
              <a:t>08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640080" y="1627632"/>
            <a:ext cx="567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A6268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1298448" y="1627632"/>
            <a:ext cx="1965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63A34"/>
                </a:solidFill>
                <a:latin typeface="Arial"/>
                <a:ea typeface="Arial"/>
                <a:cs typeface="Arial"/>
                <a:sym typeface="Arial"/>
              </a:rPr>
              <a:t>Browse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3127248" y="1627632"/>
            <a:ext cx="5139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63A34"/>
                </a:solidFill>
                <a:latin typeface="Arial"/>
                <a:ea typeface="Arial"/>
                <a:cs typeface="Arial"/>
                <a:sym typeface="Arial"/>
              </a:rPr>
              <a:t>Open four example topics and sample maps.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640080" y="2596896"/>
            <a:ext cx="567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A6268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1298448" y="2596896"/>
            <a:ext cx="1965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63A34"/>
                </a:solidFill>
                <a:latin typeface="Arial"/>
                <a:ea typeface="Arial"/>
                <a:cs typeface="Arial"/>
                <a:sym typeface="Arial"/>
              </a:rPr>
              <a:t>Explore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3127248" y="2596896"/>
            <a:ext cx="5139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63A34"/>
                </a:solidFill>
                <a:latin typeface="Arial"/>
                <a:ea typeface="Arial"/>
                <a:cs typeface="Arial"/>
                <a:sym typeface="Arial"/>
              </a:rPr>
              <a:t>Follow QR links to phone-friendly demos.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640080" y="3566160"/>
            <a:ext cx="567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A6268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1298448" y="3566160"/>
            <a:ext cx="1965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63A34"/>
                </a:solidFill>
                <a:latin typeface="Arial"/>
                <a:ea typeface="Arial"/>
                <a:cs typeface="Arial"/>
                <a:sym typeface="Arial"/>
              </a:rPr>
              <a:t>Preview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3127248" y="3566160"/>
            <a:ext cx="5139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63A34"/>
                </a:solidFill>
                <a:latin typeface="Arial"/>
                <a:ea typeface="Arial"/>
                <a:cs typeface="Arial"/>
                <a:sym typeface="Arial"/>
              </a:rPr>
              <a:t>Select a photo and review a sample capture.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667512" y="4507992"/>
            <a:ext cx="79554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0716C"/>
                </a:solidFill>
                <a:latin typeface="Arial"/>
                <a:ea typeface="Arial"/>
                <a:cs typeface="Arial"/>
                <a:sym typeface="Arial"/>
              </a:rPr>
              <a:t>Sample pins are fictional. The current demo does not save or publish observations.</a:t>
            </a:r>
            <a:endParaRPr/>
          </a:p>
        </p:txBody>
      </p:sp>
      <p:pic>
        <p:nvPicPr>
          <p:cNvPr id="207" name="Google Shape;207;p20" title="ano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0500" y="1"/>
            <a:ext cx="1683500" cy="134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0" title="Slide 08.mp3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41425" y="4417900"/>
            <a:ext cx="365700" cy="36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4EA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1"/>
          <p:cNvSpPr txBox="1"/>
          <p:nvPr/>
        </p:nvSpPr>
        <p:spPr>
          <a:xfrm>
            <a:off x="502920" y="256032"/>
            <a:ext cx="7315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A6268"/>
                </a:solidFill>
              </a:rPr>
              <a:t>THE SOLUTION</a:t>
            </a:r>
            <a:endParaRPr b="1" sz="1000">
              <a:solidFill>
                <a:srgbClr val="0A6268"/>
              </a:solidFill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502920" y="4846320"/>
            <a:ext cx="5486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0716C"/>
                </a:solidFill>
                <a:latin typeface="Arial"/>
                <a:ea typeface="Arial"/>
                <a:cs typeface="Arial"/>
                <a:sym typeface="Arial"/>
              </a:rPr>
              <a:t>ANOLE  /  HOUSTON HACKATHON 2026</a:t>
            </a:r>
            <a:endParaRPr/>
          </a:p>
        </p:txBody>
      </p:sp>
      <p:sp>
        <p:nvSpPr>
          <p:cNvPr id="215" name="Google Shape;215;p21"/>
          <p:cNvSpPr txBox="1"/>
          <p:nvPr/>
        </p:nvSpPr>
        <p:spPr>
          <a:xfrm>
            <a:off x="8229600" y="4837176"/>
            <a:ext cx="3657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0716C"/>
                </a:solidFill>
              </a:rPr>
              <a:t>09</a:t>
            </a:r>
            <a:endParaRPr/>
          </a:p>
        </p:txBody>
      </p:sp>
      <p:pic>
        <p:nvPicPr>
          <p:cNvPr id="216" name="Google Shape;216;p21" title="ano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0500" y="1"/>
            <a:ext cx="1683500" cy="13468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1"/>
          <p:cNvSpPr txBox="1"/>
          <p:nvPr/>
        </p:nvSpPr>
        <p:spPr>
          <a:xfrm>
            <a:off x="502920" y="621792"/>
            <a:ext cx="818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3A34"/>
                </a:solidFill>
              </a:rPr>
              <a:t>F</a:t>
            </a:r>
            <a:r>
              <a:rPr b="1" i="0" lang="en-US" sz="3000" u="none" cap="none" strike="noStrike">
                <a:solidFill>
                  <a:srgbClr val="263A34"/>
                </a:solidFill>
                <a:latin typeface="Arial"/>
                <a:ea typeface="Arial"/>
                <a:cs typeface="Arial"/>
                <a:sym typeface="Arial"/>
              </a:rPr>
              <a:t>our examples to showcase</a:t>
            </a:r>
            <a:endParaRPr/>
          </a:p>
        </p:txBody>
      </p:sp>
      <p:graphicFrame>
        <p:nvGraphicFramePr>
          <p:cNvPr id="218" name="Google Shape;218;p21"/>
          <p:cNvGraphicFramePr/>
          <p:nvPr/>
        </p:nvGraphicFramePr>
        <p:xfrm>
          <a:off x="1126625" y="10860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{7A0DFA97-2353-4922-9D6B-892FB966012F}</a:tableStyleId>
              </a:tblPr>
              <a:tblGrid>
                <a:gridCol w="3445375"/>
                <a:gridCol w="3445375"/>
              </a:tblGrid>
              <a:tr h="1363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53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2000"/>
                        </a:lnSpc>
                        <a:spcBef>
                          <a:spcPts val="1500"/>
                        </a:spcBef>
                        <a:spcAft>
                          <a:spcPts val="1700"/>
                        </a:spcAft>
                        <a:buNone/>
                      </a:pPr>
                      <a:r>
                        <a:rPr lang="en-US" spc="-76">
                          <a:solidFill>
                            <a:srgbClr val="B84A3A"/>
                          </a:solidFill>
                        </a:rPr>
                        <a:t>Heat relief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2000"/>
                        </a:lnSpc>
                        <a:spcBef>
                          <a:spcPts val="1500"/>
                        </a:spcBef>
                        <a:spcAft>
                          <a:spcPts val="1700"/>
                        </a:spcAft>
                        <a:buNone/>
                      </a:pPr>
                      <a:r>
                        <a:rPr lang="en-US" spc="-76">
                          <a:solidFill>
                            <a:srgbClr val="28638B"/>
                          </a:solidFill>
                        </a:rPr>
                        <a:t>Accessibility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54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7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2000"/>
                        </a:lnSpc>
                        <a:spcBef>
                          <a:spcPts val="1500"/>
                        </a:spcBef>
                        <a:spcAft>
                          <a:spcPts val="1700"/>
                        </a:spcAft>
                        <a:buNone/>
                      </a:pPr>
                      <a:r>
                        <a:rPr lang="en-US" spc="-76">
                          <a:solidFill>
                            <a:srgbClr val="4F6B45"/>
                          </a:solidFill>
                        </a:rPr>
                        <a:t>Wildlife sighting</a:t>
                      </a:r>
                      <a:r>
                        <a:rPr lang="en-US" spc="-76">
                          <a:solidFill>
                            <a:srgbClr val="4F6B45"/>
                          </a:solidFill>
                        </a:rPr>
                        <a:t>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2000"/>
                        </a:lnSpc>
                        <a:spcBef>
                          <a:spcPts val="1500"/>
                        </a:spcBef>
                        <a:spcAft>
                          <a:spcPts val="1700"/>
                        </a:spcAft>
                        <a:buNone/>
                      </a:pPr>
                      <a:r>
                        <a:rPr lang="en-US" spc="-76">
                          <a:solidFill>
                            <a:srgbClr val="52616B"/>
                          </a:solidFill>
                        </a:rPr>
                        <a:t>Municipal maintenance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19" name="Google Shape;21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40300" y="1217218"/>
            <a:ext cx="1200150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52950" y="1217226"/>
            <a:ext cx="1200150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40300" y="2938626"/>
            <a:ext cx="1200150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652950" y="2938626"/>
            <a:ext cx="1200150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1" title="Slide 09.mp3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377050" y="4527425"/>
            <a:ext cx="309750" cy="30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4EA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2"/>
          <p:cNvSpPr txBox="1"/>
          <p:nvPr/>
        </p:nvSpPr>
        <p:spPr>
          <a:xfrm>
            <a:off x="502920" y="256032"/>
            <a:ext cx="7315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A6268"/>
                </a:solidFill>
              </a:rPr>
              <a:t>FIRST </a:t>
            </a:r>
            <a:r>
              <a:rPr b="1" i="0" lang="en-US" sz="1000" u="none" cap="none" strike="noStrike">
                <a:solidFill>
                  <a:srgbClr val="0A6268"/>
                </a:solidFill>
                <a:latin typeface="Arial"/>
                <a:ea typeface="Arial"/>
                <a:cs typeface="Arial"/>
                <a:sym typeface="Arial"/>
              </a:rPr>
              <a:t>PILOT</a:t>
            </a:r>
            <a:endParaRPr/>
          </a:p>
        </p:txBody>
      </p:sp>
      <p:sp>
        <p:nvSpPr>
          <p:cNvPr id="229" name="Google Shape;229;p22"/>
          <p:cNvSpPr txBox="1"/>
          <p:nvPr/>
        </p:nvSpPr>
        <p:spPr>
          <a:xfrm>
            <a:off x="502920" y="621792"/>
            <a:ext cx="818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3A34"/>
                </a:solidFill>
              </a:rPr>
              <a:t>Start with Houston.</a:t>
            </a:r>
            <a:endParaRPr/>
          </a:p>
        </p:txBody>
      </p:sp>
      <p:sp>
        <p:nvSpPr>
          <p:cNvPr id="230" name="Google Shape;230;p22"/>
          <p:cNvSpPr/>
          <p:nvPr/>
        </p:nvSpPr>
        <p:spPr>
          <a:xfrm>
            <a:off x="502920" y="4782312"/>
            <a:ext cx="8138160" cy="16459"/>
          </a:xfrm>
          <a:prstGeom prst="rect">
            <a:avLst/>
          </a:prstGeom>
          <a:solidFill>
            <a:srgbClr val="E7E4D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2"/>
          <p:cNvSpPr txBox="1"/>
          <p:nvPr/>
        </p:nvSpPr>
        <p:spPr>
          <a:xfrm>
            <a:off x="502920" y="4846320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0716C"/>
                </a:solidFill>
                <a:latin typeface="Arial"/>
                <a:ea typeface="Arial"/>
                <a:cs typeface="Arial"/>
                <a:sym typeface="Arial"/>
              </a:rPr>
              <a:t>ANOLE  /  HOUSTON HACKATHON 2026</a:t>
            </a:r>
            <a:endParaRPr/>
          </a:p>
        </p:txBody>
      </p:sp>
      <p:sp>
        <p:nvSpPr>
          <p:cNvPr id="232" name="Google Shape;232;p22"/>
          <p:cNvSpPr txBox="1"/>
          <p:nvPr/>
        </p:nvSpPr>
        <p:spPr>
          <a:xfrm>
            <a:off x="8229600" y="4837176"/>
            <a:ext cx="3657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0716C"/>
                </a:solidFill>
              </a:rPr>
              <a:t>10</a:t>
            </a:r>
            <a:endParaRPr/>
          </a:p>
        </p:txBody>
      </p:sp>
      <p:sp>
        <p:nvSpPr>
          <p:cNvPr id="233" name="Google Shape;233;p22"/>
          <p:cNvSpPr txBox="1"/>
          <p:nvPr/>
        </p:nvSpPr>
        <p:spPr>
          <a:xfrm>
            <a:off x="571635" y="1217158"/>
            <a:ext cx="8046600" cy="7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 sz="2200">
                <a:solidFill>
                  <a:srgbClr val="263A34"/>
                </a:solidFill>
              </a:rPr>
              <a:t>Invite a hackathon team whose idea needs a community map, </a:t>
            </a:r>
            <a:r>
              <a:rPr lang="en-US" sz="2200">
                <a:solidFill>
                  <a:srgbClr val="263A34"/>
                </a:solidFill>
              </a:rPr>
              <a:t>collaborate</a:t>
            </a:r>
            <a:r>
              <a:rPr lang="en-US" sz="2200">
                <a:solidFill>
                  <a:srgbClr val="263A34"/>
                </a:solidFill>
              </a:rPr>
              <a:t> and </a:t>
            </a:r>
            <a:r>
              <a:rPr lang="en-US" sz="2200">
                <a:solidFill>
                  <a:srgbClr val="263A34"/>
                </a:solidFill>
              </a:rPr>
              <a:t>implement</a:t>
            </a:r>
            <a:r>
              <a:rPr lang="en-US" sz="2200">
                <a:solidFill>
                  <a:srgbClr val="263A34"/>
                </a:solidFill>
              </a:rPr>
              <a:t> it. </a:t>
            </a:r>
            <a:endParaRPr sz="2200">
              <a:solidFill>
                <a:srgbClr val="263A34"/>
              </a:solidFill>
            </a:endParaRPr>
          </a:p>
        </p:txBody>
      </p:sp>
      <p:sp>
        <p:nvSpPr>
          <p:cNvPr id="234" name="Google Shape;234;p22"/>
          <p:cNvSpPr txBox="1"/>
          <p:nvPr/>
        </p:nvSpPr>
        <p:spPr>
          <a:xfrm>
            <a:off x="612648" y="2850875"/>
            <a:ext cx="23775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0A6268"/>
                </a:solidFill>
              </a:rPr>
              <a:t>Initial reach:</a:t>
            </a:r>
            <a:endParaRPr/>
          </a:p>
        </p:txBody>
      </p:sp>
      <p:sp>
        <p:nvSpPr>
          <p:cNvPr id="235" name="Google Shape;235;p22"/>
          <p:cNvSpPr txBox="1"/>
          <p:nvPr/>
        </p:nvSpPr>
        <p:spPr>
          <a:xfrm>
            <a:off x="2610131" y="2850875"/>
            <a:ext cx="5540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 sz="1700">
                <a:solidFill>
                  <a:srgbClr val="263A34"/>
                </a:solidFill>
              </a:rPr>
              <a:t>Pilot a few Houston projects.</a:t>
            </a:r>
            <a:endParaRPr sz="1700">
              <a:solidFill>
                <a:srgbClr val="263A34"/>
              </a:solidFill>
            </a:endParaRPr>
          </a:p>
        </p:txBody>
      </p:sp>
      <p:sp>
        <p:nvSpPr>
          <p:cNvPr id="236" name="Google Shape;236;p22"/>
          <p:cNvSpPr txBox="1"/>
          <p:nvPr/>
        </p:nvSpPr>
        <p:spPr>
          <a:xfrm>
            <a:off x="612648" y="3435000"/>
            <a:ext cx="23775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0A6268"/>
                </a:solidFill>
              </a:rPr>
              <a:t>Long-term impact:</a:t>
            </a:r>
            <a:endParaRPr/>
          </a:p>
        </p:txBody>
      </p:sp>
      <p:sp>
        <p:nvSpPr>
          <p:cNvPr id="237" name="Google Shape;237;p22"/>
          <p:cNvSpPr txBox="1"/>
          <p:nvPr/>
        </p:nvSpPr>
        <p:spPr>
          <a:xfrm>
            <a:off x="2610131" y="3435000"/>
            <a:ext cx="5540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263A34"/>
                </a:solidFill>
              </a:rPr>
              <a:t>Make Anole an API for other projects.</a:t>
            </a:r>
            <a:endParaRPr sz="1700">
              <a:solidFill>
                <a:srgbClr val="263A34"/>
              </a:solidFill>
            </a:endParaRPr>
          </a:p>
        </p:txBody>
      </p:sp>
      <p:sp>
        <p:nvSpPr>
          <p:cNvPr id="238" name="Google Shape;238;p22"/>
          <p:cNvSpPr txBox="1"/>
          <p:nvPr/>
        </p:nvSpPr>
        <p:spPr>
          <a:xfrm>
            <a:off x="612650" y="4019125"/>
            <a:ext cx="2544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0A6268"/>
                </a:solidFill>
              </a:rPr>
              <a:t>Measure:</a:t>
            </a:r>
            <a:endParaRPr/>
          </a:p>
        </p:txBody>
      </p:sp>
      <p:sp>
        <p:nvSpPr>
          <p:cNvPr id="239" name="Google Shape;239;p22"/>
          <p:cNvSpPr txBox="1"/>
          <p:nvPr/>
        </p:nvSpPr>
        <p:spPr>
          <a:xfrm>
            <a:off x="2610125" y="4019125"/>
            <a:ext cx="60768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 sz="1700">
                <a:solidFill>
                  <a:srgbClr val="263A34"/>
                </a:solidFill>
              </a:rPr>
              <a:t>Track Active projects, contributors, observations and map use.</a:t>
            </a:r>
            <a:endParaRPr sz="1700">
              <a:solidFill>
                <a:srgbClr val="263A34"/>
              </a:solidFill>
            </a:endParaRPr>
          </a:p>
        </p:txBody>
      </p:sp>
      <p:sp>
        <p:nvSpPr>
          <p:cNvPr id="240" name="Google Shape;240;p22"/>
          <p:cNvSpPr txBox="1"/>
          <p:nvPr/>
        </p:nvSpPr>
        <p:spPr>
          <a:xfrm>
            <a:off x="612648" y="2266750"/>
            <a:ext cx="23775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0A6268"/>
                </a:solidFill>
              </a:rPr>
              <a:t>Who benefits?</a:t>
            </a:r>
            <a:endParaRPr/>
          </a:p>
        </p:txBody>
      </p:sp>
      <p:sp>
        <p:nvSpPr>
          <p:cNvPr id="241" name="Google Shape;241;p22"/>
          <p:cNvSpPr txBox="1"/>
          <p:nvPr/>
        </p:nvSpPr>
        <p:spPr>
          <a:xfrm>
            <a:off x="2610131" y="2266750"/>
            <a:ext cx="5540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 sz="1700">
                <a:solidFill>
                  <a:srgbClr val="263A34"/>
                </a:solidFill>
              </a:rPr>
              <a:t>Founders, organisers and their communities.</a:t>
            </a:r>
            <a:endParaRPr sz="1700">
              <a:solidFill>
                <a:srgbClr val="263A34"/>
              </a:solidFill>
            </a:endParaRPr>
          </a:p>
        </p:txBody>
      </p:sp>
      <p:pic>
        <p:nvPicPr>
          <p:cNvPr id="242" name="Google Shape;242;p22" title="ano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0500" y="1"/>
            <a:ext cx="1683500" cy="134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2" title="Slide 10.mp3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1450" y="4537172"/>
            <a:ext cx="261600" cy="26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4EA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3"/>
          <p:cNvSpPr txBox="1"/>
          <p:nvPr/>
        </p:nvSpPr>
        <p:spPr>
          <a:xfrm>
            <a:off x="502920" y="256032"/>
            <a:ext cx="7315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A6268"/>
                </a:solidFill>
              </a:rPr>
              <a:t>WHATS NEXT</a:t>
            </a:r>
            <a:endParaRPr/>
          </a:p>
        </p:txBody>
      </p:sp>
      <p:sp>
        <p:nvSpPr>
          <p:cNvPr id="249" name="Google Shape;249;p23"/>
          <p:cNvSpPr txBox="1"/>
          <p:nvPr/>
        </p:nvSpPr>
        <p:spPr>
          <a:xfrm>
            <a:off x="502925" y="621796"/>
            <a:ext cx="818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63A34"/>
                </a:solidFill>
              </a:rPr>
              <a:t>The plan forward wishlist</a:t>
            </a:r>
            <a:endParaRPr/>
          </a:p>
        </p:txBody>
      </p:sp>
      <p:sp>
        <p:nvSpPr>
          <p:cNvPr id="250" name="Google Shape;250;p23"/>
          <p:cNvSpPr/>
          <p:nvPr/>
        </p:nvSpPr>
        <p:spPr>
          <a:xfrm>
            <a:off x="502920" y="4782312"/>
            <a:ext cx="8138160" cy="16459"/>
          </a:xfrm>
          <a:prstGeom prst="rect">
            <a:avLst/>
          </a:prstGeom>
          <a:solidFill>
            <a:srgbClr val="E7E4D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3"/>
          <p:cNvSpPr txBox="1"/>
          <p:nvPr/>
        </p:nvSpPr>
        <p:spPr>
          <a:xfrm>
            <a:off x="502920" y="4846320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0716C"/>
                </a:solidFill>
                <a:latin typeface="Arial"/>
                <a:ea typeface="Arial"/>
                <a:cs typeface="Arial"/>
                <a:sym typeface="Arial"/>
              </a:rPr>
              <a:t>ANOLE  /  HOUSTON HACKATHON 2026</a:t>
            </a:r>
            <a:endParaRPr/>
          </a:p>
        </p:txBody>
      </p:sp>
      <p:sp>
        <p:nvSpPr>
          <p:cNvPr id="252" name="Google Shape;252;p23"/>
          <p:cNvSpPr txBox="1"/>
          <p:nvPr/>
        </p:nvSpPr>
        <p:spPr>
          <a:xfrm>
            <a:off x="8229600" y="4837176"/>
            <a:ext cx="3657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0716C"/>
                </a:solidFill>
              </a:rPr>
              <a:t>11</a:t>
            </a:r>
            <a:endParaRPr/>
          </a:p>
        </p:txBody>
      </p:sp>
      <p:sp>
        <p:nvSpPr>
          <p:cNvPr id="253" name="Google Shape;253;p23"/>
          <p:cNvSpPr/>
          <p:nvPr/>
        </p:nvSpPr>
        <p:spPr>
          <a:xfrm>
            <a:off x="580660" y="1123940"/>
            <a:ext cx="2541900" cy="82200"/>
          </a:xfrm>
          <a:prstGeom prst="rect">
            <a:avLst/>
          </a:prstGeom>
          <a:solidFill>
            <a:srgbClr val="B84A3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3"/>
          <p:cNvSpPr/>
          <p:nvPr/>
        </p:nvSpPr>
        <p:spPr>
          <a:xfrm>
            <a:off x="3470164" y="1123940"/>
            <a:ext cx="2541900" cy="82200"/>
          </a:xfrm>
          <a:prstGeom prst="rect">
            <a:avLst/>
          </a:prstGeom>
          <a:solidFill>
            <a:srgbClr val="52616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3"/>
          <p:cNvSpPr/>
          <p:nvPr/>
        </p:nvSpPr>
        <p:spPr>
          <a:xfrm>
            <a:off x="6359668" y="1123940"/>
            <a:ext cx="2541900" cy="82200"/>
          </a:xfrm>
          <a:prstGeom prst="rect">
            <a:avLst/>
          </a:prstGeom>
          <a:solidFill>
            <a:srgbClr val="28638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3"/>
          <p:cNvSpPr txBox="1"/>
          <p:nvPr/>
        </p:nvSpPr>
        <p:spPr>
          <a:xfrm>
            <a:off x="576147" y="1474733"/>
            <a:ext cx="8046600" cy="29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63A34"/>
              </a:buClr>
              <a:buSzPts val="1900"/>
              <a:buChar char="●"/>
            </a:pPr>
            <a:r>
              <a:rPr lang="en-US" sz="1900">
                <a:solidFill>
                  <a:srgbClr val="263A34"/>
                </a:solidFill>
              </a:rPr>
              <a:t>Complete the backend, creator dashboard, accounts and moderation.</a:t>
            </a:r>
            <a:endParaRPr sz="1900">
              <a:solidFill>
                <a:srgbClr val="263A34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63A34"/>
              </a:buClr>
              <a:buSzPts val="1900"/>
              <a:buChar char="●"/>
            </a:pPr>
            <a:r>
              <a:rPr lang="en-US" sz="1900">
                <a:solidFill>
                  <a:srgbClr val="263A34"/>
                </a:solidFill>
              </a:rPr>
              <a:t>Pilot with a few Houston projects and test demand, capacity and costs.</a:t>
            </a:r>
            <a:endParaRPr sz="1900">
              <a:solidFill>
                <a:srgbClr val="263A34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63A34"/>
              </a:buClr>
              <a:buSzPts val="1900"/>
              <a:buChar char="●"/>
            </a:pPr>
            <a:r>
              <a:rPr lang="en-US" sz="1900">
                <a:solidFill>
                  <a:srgbClr val="263A34"/>
                </a:solidFill>
              </a:rPr>
              <a:t>Build a mobile-friendly web app with a secure API and protected photo uploads.</a:t>
            </a:r>
            <a:endParaRPr sz="1900">
              <a:solidFill>
                <a:srgbClr val="263A34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63A34"/>
              </a:buClr>
              <a:buSzPts val="1900"/>
              <a:buChar char="●"/>
            </a:pPr>
            <a:r>
              <a:rPr lang="en-US" sz="1900">
                <a:solidFill>
                  <a:srgbClr val="263A34"/>
                </a:solidFill>
              </a:rPr>
              <a:t>Add the authentication, access controls and monitoring needed to scale.</a:t>
            </a:r>
            <a:endParaRPr sz="1900">
              <a:solidFill>
                <a:srgbClr val="263A3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rgbClr val="263A3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lang="en-US" sz="1900">
                <a:solidFill>
                  <a:srgbClr val="263A34"/>
                </a:solidFill>
              </a:rPr>
              <a:t>Long-term goal</a:t>
            </a:r>
            <a:r>
              <a:rPr lang="en-US" sz="1900">
                <a:solidFill>
                  <a:srgbClr val="263A34"/>
                </a:solidFill>
              </a:rPr>
              <a:t>: build a community to improve on Anole through an API.</a:t>
            </a:r>
            <a:endParaRPr sz="1900">
              <a:solidFill>
                <a:srgbClr val="263A34"/>
              </a:solidFill>
            </a:endParaRPr>
          </a:p>
        </p:txBody>
      </p:sp>
      <p:pic>
        <p:nvPicPr>
          <p:cNvPr id="257" name="Google Shape;257;p23" title="ano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0500" y="1"/>
            <a:ext cx="1683500" cy="134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3" title="Slide 11.mp3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4625" y="4557351"/>
            <a:ext cx="241425" cy="24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4EA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4"/>
          <p:cNvSpPr txBox="1"/>
          <p:nvPr/>
        </p:nvSpPr>
        <p:spPr>
          <a:xfrm>
            <a:off x="502920" y="256032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A6268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/>
          </a:p>
        </p:txBody>
      </p:sp>
      <p:sp>
        <p:nvSpPr>
          <p:cNvPr id="264" name="Google Shape;264;p24"/>
          <p:cNvSpPr txBox="1"/>
          <p:nvPr/>
        </p:nvSpPr>
        <p:spPr>
          <a:xfrm>
            <a:off x="480057" y="553117"/>
            <a:ext cx="818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63A34"/>
                </a:solidFill>
                <a:latin typeface="Arial"/>
                <a:ea typeface="Arial"/>
                <a:cs typeface="Arial"/>
                <a:sym typeface="Arial"/>
              </a:rPr>
              <a:t>The people behind Anole.</a:t>
            </a:r>
            <a:endParaRPr/>
          </a:p>
        </p:txBody>
      </p:sp>
      <p:sp>
        <p:nvSpPr>
          <p:cNvPr id="265" name="Google Shape;265;p24"/>
          <p:cNvSpPr/>
          <p:nvPr/>
        </p:nvSpPr>
        <p:spPr>
          <a:xfrm>
            <a:off x="502920" y="4782312"/>
            <a:ext cx="8138160" cy="16459"/>
          </a:xfrm>
          <a:prstGeom prst="rect">
            <a:avLst/>
          </a:prstGeom>
          <a:solidFill>
            <a:srgbClr val="E7E4D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4"/>
          <p:cNvSpPr txBox="1"/>
          <p:nvPr/>
        </p:nvSpPr>
        <p:spPr>
          <a:xfrm>
            <a:off x="502920" y="4846320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0716C"/>
                </a:solidFill>
                <a:latin typeface="Arial"/>
                <a:ea typeface="Arial"/>
                <a:cs typeface="Arial"/>
                <a:sym typeface="Arial"/>
              </a:rPr>
              <a:t>ANOLE  /  HOUSTON HACKATHON 2026</a:t>
            </a:r>
            <a:endParaRPr/>
          </a:p>
        </p:txBody>
      </p:sp>
      <p:sp>
        <p:nvSpPr>
          <p:cNvPr id="267" name="Google Shape;267;p24"/>
          <p:cNvSpPr txBox="1"/>
          <p:nvPr/>
        </p:nvSpPr>
        <p:spPr>
          <a:xfrm>
            <a:off x="8229600" y="4837176"/>
            <a:ext cx="3657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0716C"/>
                </a:solidFill>
              </a:rPr>
              <a:t>12</a:t>
            </a:r>
            <a:endParaRPr/>
          </a:p>
        </p:txBody>
      </p:sp>
      <p:sp>
        <p:nvSpPr>
          <p:cNvPr id="268" name="Google Shape;268;p24"/>
          <p:cNvSpPr txBox="1"/>
          <p:nvPr/>
        </p:nvSpPr>
        <p:spPr>
          <a:xfrm>
            <a:off x="484798" y="1143863"/>
            <a:ext cx="374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263A34"/>
                </a:solidFill>
                <a:latin typeface="Arial"/>
                <a:ea typeface="Arial"/>
                <a:cs typeface="Arial"/>
                <a:sym typeface="Arial"/>
              </a:rPr>
              <a:t>Johann Ries</a:t>
            </a:r>
            <a:endParaRPr/>
          </a:p>
        </p:txBody>
      </p:sp>
      <p:sp>
        <p:nvSpPr>
          <p:cNvPr id="269" name="Google Shape;269;p24"/>
          <p:cNvSpPr txBox="1"/>
          <p:nvPr/>
        </p:nvSpPr>
        <p:spPr>
          <a:xfrm>
            <a:off x="484798" y="1618647"/>
            <a:ext cx="7772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63A34"/>
                </a:solidFill>
                <a:latin typeface="Arial"/>
                <a:ea typeface="Arial"/>
                <a:cs typeface="Arial"/>
                <a:sym typeface="Arial"/>
              </a:rPr>
              <a:t>Founder. Built the concept and interactive demo.</a:t>
            </a:r>
            <a:endParaRPr/>
          </a:p>
        </p:txBody>
      </p:sp>
      <p:sp>
        <p:nvSpPr>
          <p:cNvPr id="270" name="Google Shape;270;p24"/>
          <p:cNvSpPr/>
          <p:nvPr/>
        </p:nvSpPr>
        <p:spPr>
          <a:xfrm>
            <a:off x="562342" y="1970431"/>
            <a:ext cx="7909500" cy="18300"/>
          </a:xfrm>
          <a:prstGeom prst="rect">
            <a:avLst/>
          </a:prstGeom>
          <a:solidFill>
            <a:srgbClr val="E7E4D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4"/>
          <p:cNvSpPr txBox="1"/>
          <p:nvPr/>
        </p:nvSpPr>
        <p:spPr>
          <a:xfrm>
            <a:off x="484798" y="2063315"/>
            <a:ext cx="374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263A34"/>
                </a:solidFill>
                <a:latin typeface="Arial"/>
                <a:ea typeface="Arial"/>
                <a:cs typeface="Arial"/>
                <a:sym typeface="Arial"/>
              </a:rPr>
              <a:t>Michael</a:t>
            </a:r>
            <a:r>
              <a:rPr b="1" i="0" lang="en-US" sz="2600" u="none" cap="none" strike="noStrike">
                <a:solidFill>
                  <a:srgbClr val="263A34"/>
                </a:solidFill>
                <a:latin typeface="Arial"/>
                <a:ea typeface="Arial"/>
                <a:cs typeface="Arial"/>
                <a:sym typeface="Arial"/>
              </a:rPr>
              <a:t> To</a:t>
            </a:r>
            <a:endParaRPr/>
          </a:p>
        </p:txBody>
      </p:sp>
      <p:sp>
        <p:nvSpPr>
          <p:cNvPr id="272" name="Google Shape;272;p24"/>
          <p:cNvSpPr txBox="1"/>
          <p:nvPr/>
        </p:nvSpPr>
        <p:spPr>
          <a:xfrm>
            <a:off x="484798" y="2538100"/>
            <a:ext cx="7818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63A34"/>
                </a:solidFill>
              </a:rPr>
              <a:t>Reviewer and </a:t>
            </a:r>
            <a:r>
              <a:rPr b="0" i="0" lang="en-US" sz="1800" u="none" cap="none" strike="noStrike">
                <a:solidFill>
                  <a:srgbClr val="263A34"/>
                </a:solidFill>
                <a:latin typeface="Arial"/>
                <a:ea typeface="Arial"/>
                <a:cs typeface="Arial"/>
                <a:sym typeface="Arial"/>
              </a:rPr>
              <a:t>Security advisor. Outlined a production architecture and secure upload approach.</a:t>
            </a:r>
            <a:endParaRPr/>
          </a:p>
        </p:txBody>
      </p:sp>
      <p:sp>
        <p:nvSpPr>
          <p:cNvPr id="273" name="Google Shape;273;p24"/>
          <p:cNvSpPr txBox="1"/>
          <p:nvPr/>
        </p:nvSpPr>
        <p:spPr>
          <a:xfrm>
            <a:off x="484798" y="3259668"/>
            <a:ext cx="374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263A34"/>
                </a:solidFill>
              </a:rPr>
              <a:t>Bole</a:t>
            </a:r>
            <a:endParaRPr/>
          </a:p>
        </p:txBody>
      </p:sp>
      <p:sp>
        <p:nvSpPr>
          <p:cNvPr id="274" name="Google Shape;274;p24"/>
          <p:cNvSpPr txBox="1"/>
          <p:nvPr/>
        </p:nvSpPr>
        <p:spPr>
          <a:xfrm>
            <a:off x="484798" y="3734452"/>
            <a:ext cx="7818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63A34"/>
                </a:solidFill>
              </a:rPr>
              <a:t>Mascot and curious observer.Bole is our reminder to look closely, share what we find, and notice ideas that help.</a:t>
            </a:r>
            <a:endParaRPr/>
          </a:p>
        </p:txBody>
      </p:sp>
      <p:sp>
        <p:nvSpPr>
          <p:cNvPr id="275" name="Google Shape;275;p24"/>
          <p:cNvSpPr/>
          <p:nvPr/>
        </p:nvSpPr>
        <p:spPr>
          <a:xfrm>
            <a:off x="562367" y="3166784"/>
            <a:ext cx="7909500" cy="18300"/>
          </a:xfrm>
          <a:prstGeom prst="rect">
            <a:avLst/>
          </a:prstGeom>
          <a:solidFill>
            <a:srgbClr val="E7E4D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6" name="Google Shape;276;p24" title="ano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0500" y="1"/>
            <a:ext cx="1683500" cy="134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4" title="Slide 12.mp3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52125" y="4593352"/>
            <a:ext cx="188960" cy="188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6268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5"/>
          <p:cNvSpPr/>
          <p:nvPr/>
        </p:nvSpPr>
        <p:spPr>
          <a:xfrm>
            <a:off x="502920" y="4782312"/>
            <a:ext cx="8138160" cy="16459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5"/>
          <p:cNvSpPr txBox="1"/>
          <p:nvPr/>
        </p:nvSpPr>
        <p:spPr>
          <a:xfrm>
            <a:off x="502920" y="4846320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ANOLE  /  HOUSTON HACKATHON 2026</a:t>
            </a:r>
            <a:endParaRPr/>
          </a:p>
        </p:txBody>
      </p:sp>
      <p:sp>
        <p:nvSpPr>
          <p:cNvPr id="284" name="Google Shape;284;p25"/>
          <p:cNvSpPr txBox="1"/>
          <p:nvPr/>
        </p:nvSpPr>
        <p:spPr>
          <a:xfrm>
            <a:off x="8229600" y="4837176"/>
            <a:ext cx="3657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FFFFFF"/>
                </a:solidFill>
              </a:rPr>
              <a:t>13</a:t>
            </a:r>
            <a:endParaRPr/>
          </a:p>
        </p:txBody>
      </p:sp>
      <p:sp>
        <p:nvSpPr>
          <p:cNvPr id="285" name="Google Shape;285;p25"/>
          <p:cNvSpPr txBox="1"/>
          <p:nvPr/>
        </p:nvSpPr>
        <p:spPr>
          <a:xfrm>
            <a:off x="576072" y="950976"/>
            <a:ext cx="7955279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Help us test one useful community map.</a:t>
            </a:r>
            <a:endParaRPr/>
          </a:p>
        </p:txBody>
      </p:sp>
      <p:sp>
        <p:nvSpPr>
          <p:cNvPr id="286" name="Google Shape;286;p25"/>
          <p:cNvSpPr txBox="1"/>
          <p:nvPr/>
        </p:nvSpPr>
        <p:spPr>
          <a:xfrm>
            <a:off x="594360" y="2404872"/>
            <a:ext cx="7845552" cy="1298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 are looking for a pilot community and people willing to review the demo. The next build adds secure storage, moderation and a way to publish observations.</a:t>
            </a:r>
            <a:endParaRPr/>
          </a:p>
        </p:txBody>
      </p:sp>
      <p:sp>
        <p:nvSpPr>
          <p:cNvPr id="287" name="Google Shape;287;p25"/>
          <p:cNvSpPr txBox="1"/>
          <p:nvPr/>
        </p:nvSpPr>
        <p:spPr>
          <a:xfrm>
            <a:off x="594360" y="4114800"/>
            <a:ext cx="7863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25" spcFirstLastPara="1" rIns="91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anole.duckdns.org   /   heinries@gmail.com</a:t>
            </a:r>
            <a:endParaRPr/>
          </a:p>
        </p:txBody>
      </p:sp>
      <p:pic>
        <p:nvPicPr>
          <p:cNvPr id="288" name="Google Shape;288;p25" title="ano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50550" y="3210501"/>
            <a:ext cx="2044800" cy="163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5" title="Slide 13.mp3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76775" y="4499163"/>
            <a:ext cx="301125" cy="30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