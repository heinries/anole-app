
<file path=[Content_Types].xml><?xml version="1.0" encoding="utf-8"?>
<Types xmlns="http://schemas.openxmlformats.org/package/2006/content-types"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æ·±è²æ ·å¼ 1 - å¼ºè°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A0DFA97-2353-4922-9D6B-892FB966012F}" styleName="Table_0">
    <a:wholeTbl>
      <a:tcTxStyle>
        <a:srgbClr val="000000"/>
        <a:latin typeface="Arial"/>
        <a:ea typeface="Arial"/>
        <a:cs typeface="Arial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d9c1a9808707a3c_3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hd9c1a9808707a3c_3_3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d9c1a9808707a3c_3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hd9c1a9808707a3c_3_15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d9c1a9808707a3c_3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hd9c1a9808707a3c_3_3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d9c1a9808707a3c_55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hd9c1a9808707a3c_55_3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d9c1a9808707a3c_55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hd9c1a9808707a3c_55_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d9c1a9808707a3c_3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hd9c1a9808707a3c_3_4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0" name="Google Shape;280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microsoft.com/office/2007/relationships/media" Target="../media/media3.mp3"/><Relationship Id="rId1" Type="http://schemas.openxmlformats.org/officeDocument/2006/relationships/audio" Target="../media/media3.mp3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4.mp3"/><Relationship Id="rId2" Type="http://schemas.openxmlformats.org/officeDocument/2006/relationships/audio" Target="../media/media4.mp3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5.mp3"/><Relationship Id="rId2" Type="http://schemas.openxmlformats.org/officeDocument/2006/relationships/audio" Target="../media/media5.mp3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6.mp3"/><Relationship Id="rId2" Type="http://schemas.openxmlformats.org/officeDocument/2006/relationships/audio" Target="../media/media6.mp3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7.mp3"/><Relationship Id="rId2" Type="http://schemas.openxmlformats.org/officeDocument/2006/relationships/audio" Target="../media/media7.mp3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8.mp3"/><Relationship Id="rId2" Type="http://schemas.openxmlformats.org/officeDocument/2006/relationships/audio" Target="../media/media8.mp3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microsoft.com/office/2007/relationships/media" Target="../media/media9.mp3"/><Relationship Id="rId6" Type="http://schemas.openxmlformats.org/officeDocument/2006/relationships/audio" Target="../media/media9.mp3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0.mp3"/><Relationship Id="rId2" Type="http://schemas.openxmlformats.org/officeDocument/2006/relationships/audio" Target="../media/media10.mp3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1.mp3"/><Relationship Id="rId2" Type="http://schemas.openxmlformats.org/officeDocument/2006/relationships/audio" Target="../media/media11.mp3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2.mp3"/><Relationship Id="rId2" Type="http://schemas.openxmlformats.org/officeDocument/2006/relationships/audio" Target="../media/media12.mp3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3.mp3"/><Relationship Id="rId2" Type="http://schemas.openxmlformats.org/officeDocument/2006/relationships/audio" Target="../media/media13.mp3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268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29600" y="483717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9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89275" y="704625"/>
            <a:ext cx="47880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</a:t>
            </a:r>
            <a:endParaRPr sz="65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</a:rPr>
              <a:t>Capturing platform and APP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5222" y="2918080"/>
            <a:ext cx="77724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picture tells a thousand words.</a:t>
            </a:r>
            <a:endParaRPr lang="en-US" sz="29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</a:rPr>
              <a:t>So 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Let’s tell our story.</a:t>
            </a:r>
            <a:endParaRPr lang="en-US" sz="29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85216" y="3913632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Johann Ries,  </a:t>
            </a:r>
            <a:r>
              <a:rPr lang="en-US" sz="1600">
                <a:solidFill>
                  <a:srgbClr val="FFFFFF"/>
                </a:solidFill>
              </a:rPr>
              <a:t>M</a:t>
            </a:r>
            <a:r>
              <a:rPr lang="en-US" sz="16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ike </a:t>
            </a:r>
            <a:r>
              <a:rPr lang="en-US" sz="1600">
                <a:solidFill>
                  <a:srgbClr val="FFFFFF"/>
                </a:solidFill>
              </a:rPr>
              <a:t>T</a:t>
            </a:r>
            <a:r>
              <a:rPr lang="en-US" sz="16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 /   Houston Hackathon 2026</a:t>
            </a:r>
            <a:endParaRPr lang="en-US" sz="16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0" name="Google Shape;90;p13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325" y="148902"/>
            <a:ext cx="3255950" cy="26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Slide 01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03235" y="417957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5281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A6268"/>
                </a:solidFill>
              </a:rPr>
              <a:t>THE PROBLEM</a:t>
            </a:r>
            <a:endParaRPr lang="en-US" sz="1000" b="1">
              <a:solidFill>
                <a:srgbClr val="0A6268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21150" y="466824"/>
            <a:ext cx="8184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During the launch of the hackathon we noticed a trend. </a:t>
            </a:r>
            <a:endParaRPr lang="en-US" sz="3000" b="1">
              <a:solidFill>
                <a:srgbClr val="263A34"/>
              </a:solidFill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229600" y="483717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9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35450" y="2657575"/>
            <a:ext cx="8184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63A34"/>
                </a:solidFill>
              </a:rPr>
              <a:t>Examples include:</a:t>
            </a:r>
            <a:endParaRPr sz="2100">
              <a:solidFill>
                <a:srgbClr val="263A34"/>
              </a:solidFill>
            </a:endParaRPr>
          </a:p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100"/>
              <a:buChar char="●"/>
            </a:pPr>
            <a:r>
              <a:rPr lang="en-US" sz="2100">
                <a:solidFill>
                  <a:srgbClr val="263A34"/>
                </a:solidFill>
              </a:rPr>
              <a:t>places to escape the heat, </a:t>
            </a:r>
            <a:endParaRPr sz="2100">
              <a:solidFill>
                <a:srgbClr val="263A34"/>
              </a:solidFill>
            </a:endParaRPr>
          </a:p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100"/>
              <a:buChar char="●"/>
            </a:pPr>
            <a:r>
              <a:rPr lang="en-US" sz="2100">
                <a:solidFill>
                  <a:srgbClr val="263A34"/>
                </a:solidFill>
              </a:rPr>
              <a:t>faulty streetlights, </a:t>
            </a:r>
            <a:endParaRPr sz="2100">
              <a:solidFill>
                <a:srgbClr val="263A34"/>
              </a:solidFill>
            </a:endParaRPr>
          </a:p>
          <a:p>
            <a:pPr marL="457200" marR="0" lvl="0" indent="-361950" algn="l" rtl="0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100"/>
              <a:buChar char="●"/>
            </a:pPr>
            <a:r>
              <a:rPr lang="en-US" sz="2100">
                <a:solidFill>
                  <a:srgbClr val="263A34"/>
                </a:solidFill>
              </a:rPr>
              <a:t>damaged sidewalks and accessible facilities. </a:t>
            </a:r>
            <a:endParaRPr sz="2100">
              <a:solidFill>
                <a:srgbClr val="263A3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63A34"/>
                </a:solidFill>
              </a:rPr>
              <a:t>Each topic needs a way to capture local observations and show them on a map.</a:t>
            </a:r>
            <a:endParaRPr sz="2100">
              <a:solidFill>
                <a:srgbClr val="263A34"/>
              </a:solidFill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21160" y="15286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00098" y="1487135"/>
            <a:ext cx="7543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A6268"/>
                </a:solidFill>
              </a:rPr>
              <a:t>Many Houston Hackathon pitches begin with the same need: someone notices something useful or concerning, records where it is, and shares it with their community.</a:t>
            </a:r>
            <a:endParaRPr sz="2200" b="1">
              <a:solidFill>
                <a:srgbClr val="0A6268"/>
              </a:solidFill>
            </a:endParaRPr>
          </a:p>
        </p:txBody>
      </p:sp>
      <p:pic>
        <p:nvPicPr>
          <p:cNvPr id="1" name="Slide 02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03235" y="416306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6718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A6268"/>
                </a:solidFill>
              </a:rPr>
              <a:t>THE PROBLEM</a:t>
            </a:r>
            <a:endParaRPr sz="1000" b="1">
              <a:solidFill>
                <a:srgbClr val="0A6268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There are other sharing platforms</a:t>
            </a:r>
            <a:endParaRPr lang="en-US" sz="3000" b="1">
              <a:solidFill>
                <a:srgbClr val="263A34"/>
              </a:solidFill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03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17235" y="33703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17225" y="1295375"/>
            <a:ext cx="79782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Houston 311 helps residents report city service issues. </a:t>
            </a:r>
            <a:endParaRPr sz="2200">
              <a:solidFill>
                <a:srgbClr val="263A34"/>
              </a:solidFill>
            </a:endParaRPr>
          </a:p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Google Maps and social media help people find or share places. </a:t>
            </a:r>
            <a:br>
              <a:rPr lang="en-US" sz="2200">
                <a:solidFill>
                  <a:srgbClr val="263A34"/>
                </a:solidFill>
              </a:rPr>
            </a:br>
            <a:endParaRPr sz="2200">
              <a:solidFill>
                <a:srgbClr val="263A34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63A34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23023" y="3498035"/>
            <a:ext cx="7543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lang="en-US" sz="2200" b="1">
                <a:solidFill>
                  <a:srgbClr val="0A6268"/>
                </a:solidFill>
              </a:rPr>
              <a:t>But a community group may need its own questions, observations and map for a specific topic.</a:t>
            </a:r>
            <a:endParaRPr sz="2200"/>
          </a:p>
        </p:txBody>
      </p:sp>
      <p:pic>
        <p:nvPicPr>
          <p:cNvPr id="1" name="Slide 03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02600" y="417957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6927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A6268"/>
                </a:solidFill>
              </a:rPr>
              <a:t>THE SOLUTION</a:t>
            </a:r>
            <a:endParaRPr sz="1000" b="1">
              <a:solidFill>
                <a:srgbClr val="0A6268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This is where Anole fills the gap. </a:t>
            </a:r>
            <a:endParaRPr lang="en-US" sz="3000" b="1">
              <a:solidFill>
                <a:srgbClr val="263A34"/>
              </a:solidFill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04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17235" y="1420743"/>
            <a:ext cx="7955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3A34"/>
                </a:solidFill>
              </a:rPr>
              <a:t>Anole would let a community organiser </a:t>
            </a:r>
            <a:r>
              <a:rPr lang="en-US" sz="2200" b="1">
                <a:solidFill>
                  <a:srgbClr val="263A34"/>
                </a:solidFill>
              </a:rPr>
              <a:t>create a topic page</a:t>
            </a:r>
            <a:r>
              <a:rPr lang="en-US" sz="2200">
                <a:solidFill>
                  <a:srgbClr val="263A34"/>
                </a:solidFill>
              </a:rPr>
              <a:t>, choose what information to collect and </a:t>
            </a:r>
            <a:r>
              <a:rPr lang="en-US" sz="2200" b="1">
                <a:solidFill>
                  <a:srgbClr val="263A34"/>
                </a:solidFill>
              </a:rPr>
              <a:t>invite </a:t>
            </a:r>
            <a:r>
              <a:rPr lang="en-US" sz="2200">
                <a:solidFill>
                  <a:srgbClr val="263A34"/>
                </a:solidFill>
              </a:rPr>
              <a:t>communities to </a:t>
            </a:r>
            <a:r>
              <a:rPr lang="en-US" sz="2200" b="1">
                <a:solidFill>
                  <a:srgbClr val="263A34"/>
                </a:solidFill>
              </a:rPr>
              <a:t>contribute.</a:t>
            </a:r>
            <a:endParaRPr sz="2200" b="1">
              <a:solidFill>
                <a:srgbClr val="263A3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63A3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28" name="Google Shape;128;p16"/>
          <p:cNvSpPr txBox="1"/>
          <p:nvPr/>
        </p:nvSpPr>
        <p:spPr>
          <a:xfrm>
            <a:off x="800073" y="3378585"/>
            <a:ext cx="7543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A6268"/>
                </a:solidFill>
              </a:rPr>
              <a:t>Each proposed submission would include a location, photo and details, building a shared picture of what is happening nearby.</a:t>
            </a:r>
            <a:endParaRPr sz="2200" b="1">
              <a:solidFill>
                <a:srgbClr val="0A6268"/>
              </a:solidFill>
            </a:endParaRPr>
          </a:p>
        </p:txBody>
      </p:sp>
      <p:pic>
        <p:nvPicPr>
          <p:cNvPr id="129" name="Google Shape;129;p16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617235" y="33703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" name="Slide 04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02600" y="416306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9670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A6268"/>
                </a:solidFill>
              </a:rPr>
              <a:t>THE SOLUTION</a:t>
            </a:r>
            <a:endParaRPr sz="1000" b="1">
              <a:solidFill>
                <a:srgbClr val="0A6268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How Anole would work.</a:t>
            </a:r>
            <a:endParaRPr lang="en-US" sz="3000" b="1">
              <a:solidFill>
                <a:srgbClr val="263A34"/>
              </a:solidFill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</a:t>
            </a:r>
            <a:r>
              <a:rPr lang="en-US" sz="900">
                <a:solidFill>
                  <a:srgbClr val="60716C"/>
                </a:solidFill>
              </a:rPr>
              <a:t>5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17235" y="1232642"/>
            <a:ext cx="7955400" cy="21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3A34"/>
                </a:solidFill>
              </a:rPr>
              <a:t>Anole’s vision is not just to capture but share information.</a:t>
            </a:r>
            <a:endParaRPr sz="2200">
              <a:solidFill>
                <a:srgbClr val="263A34"/>
              </a:solidFill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Organizers can create a topic, choose questions.</a:t>
            </a:r>
            <a:endParaRPr sz="2200">
              <a:solidFill>
                <a:srgbClr val="263A34"/>
              </a:solidFill>
            </a:endParaRPr>
          </a:p>
          <a:p>
            <a:pPr marL="4572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Share a link or QR code with the community.</a:t>
            </a:r>
            <a:endParaRPr sz="2200">
              <a:solidFill>
                <a:srgbClr val="263A34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Collect photos and location-based observations.</a:t>
            </a:r>
            <a:endParaRPr sz="2200">
              <a:solidFill>
                <a:srgbClr val="263A34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Review contributions and explore them on a shared map.</a:t>
            </a:r>
            <a:endParaRPr sz="2200">
              <a:solidFill>
                <a:srgbClr val="263A34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In the Future perhaps a dashboard for further analysis</a:t>
            </a:r>
            <a:endParaRPr sz="2200">
              <a:solidFill>
                <a:srgbClr val="263A34"/>
              </a:solidFill>
            </a:endParaRPr>
          </a:p>
        </p:txBody>
      </p:sp>
      <p:pic>
        <p:nvPicPr>
          <p:cNvPr id="142" name="Google Shape;142;p17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617235" y="33703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00073" y="3498035"/>
            <a:ext cx="7543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A6268"/>
                </a:solidFill>
              </a:rPr>
              <a:t>Anole makes it easy and open to use. Each submission can be useful for many reasons.</a:t>
            </a:r>
            <a:endParaRPr sz="2200" b="1">
              <a:solidFill>
                <a:srgbClr val="0A6268"/>
              </a:solidFill>
            </a:endParaRPr>
          </a:p>
        </p:txBody>
      </p:sp>
      <p:pic>
        <p:nvPicPr>
          <p:cNvPr id="1" name="Slide 05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417957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2543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 b="1">
                <a:solidFill>
                  <a:srgbClr val="0A6268"/>
                </a:solidFill>
              </a:rPr>
              <a:t>CREATOR FLOW</a:t>
            </a:r>
            <a:endParaRPr sz="1000" b="1">
              <a:solidFill>
                <a:srgbClr val="0A6268"/>
              </a:solidFill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How a creator starts a topic</a:t>
            </a:r>
            <a:endParaRPr lang="en-US" sz="3000" b="1">
              <a:solidFill>
                <a:srgbClr val="263A34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</a:t>
            </a:r>
            <a:r>
              <a:rPr lang="en-US" sz="900">
                <a:solidFill>
                  <a:srgbClr val="60716C"/>
                </a:solidFill>
              </a:rPr>
              <a:t>6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02930" y="1627632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995300" y="1640400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b="1">
                <a:solidFill>
                  <a:srgbClr val="263A34"/>
                </a:solidFill>
              </a:rPr>
              <a:t>Choose a topic</a:t>
            </a:r>
            <a:endParaRPr sz="2100" b="1">
              <a:solidFill>
                <a:srgbClr val="263A34"/>
              </a:solidFill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127248" y="1627632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Start with a local question and decide what details neighbours should record.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02930" y="2596896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995300" y="2609663"/>
            <a:ext cx="2132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b="1">
                <a:solidFill>
                  <a:srgbClr val="263A34"/>
                </a:solidFill>
              </a:rPr>
              <a:t>Share the invitation</a:t>
            </a:r>
            <a:endParaRPr sz="2100" b="1">
              <a:solidFill>
                <a:srgbClr val="263A34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3127248" y="2596896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Publish a topic link and QR code so the community can take part.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02930" y="3566160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995300" y="3578926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b="1">
                <a:solidFill>
                  <a:srgbClr val="263A34"/>
                </a:solidFill>
              </a:rPr>
              <a:t>Review map</a:t>
            </a:r>
            <a:endParaRPr sz="2100" b="1">
              <a:solidFill>
                <a:srgbClr val="263A34"/>
              </a:solidFill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3127248" y="3566160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Check contributions and use the shared map to guide follow-up.</a:t>
            </a:r>
            <a:endParaRPr sz="1800">
              <a:solidFill>
                <a:srgbClr val="263A34"/>
              </a:solidFill>
            </a:endParaRPr>
          </a:p>
        </p:txBody>
      </p:sp>
      <p:pic>
        <p:nvPicPr>
          <p:cNvPr id="164" name="Google Shape;164;p18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02920" y="1192907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 b="1">
                <a:solidFill>
                  <a:srgbClr val="0A6268"/>
                </a:solidFill>
              </a:rPr>
              <a:t>PROPOSED PRODUCT FLOW</a:t>
            </a:r>
            <a:endParaRPr sz="1000" b="1">
              <a:solidFill>
                <a:srgbClr val="0A6268"/>
              </a:solidFill>
            </a:endParaRPr>
          </a:p>
        </p:txBody>
      </p:sp>
      <p:pic>
        <p:nvPicPr>
          <p:cNvPr id="1" name="Slide 06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416306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9461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 b="1">
                <a:solidFill>
                  <a:srgbClr val="0A6268"/>
                </a:solidFill>
              </a:rPr>
              <a:t>USER  FLOW</a:t>
            </a:r>
            <a:endParaRPr sz="1000" b="1">
              <a:solidFill>
                <a:srgbClr val="0A6268"/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b="1">
                <a:solidFill>
                  <a:srgbClr val="263A34"/>
                </a:solidFill>
              </a:rPr>
              <a:t>How a neighbour contributes</a:t>
            </a:r>
            <a:endParaRPr sz="3000" b="1">
              <a:solidFill>
                <a:srgbClr val="263A34"/>
              </a:solidFill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</a:t>
            </a:r>
            <a:r>
              <a:rPr lang="en-US" sz="900">
                <a:solidFill>
                  <a:srgbClr val="60716C"/>
                </a:solidFill>
              </a:rPr>
              <a:t>7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02930" y="1627632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95300" y="1640400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b="1">
                <a:solidFill>
                  <a:srgbClr val="263A34"/>
                </a:solidFill>
              </a:rPr>
              <a:t>Open a topic</a:t>
            </a:r>
            <a:endParaRPr sz="2100" b="1">
              <a:solidFill>
                <a:srgbClr val="263A34"/>
              </a:solidFill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127248" y="1627632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Scan its QR code, read the question and explore the topic map.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02930" y="2596896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995300" y="2609663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b="1">
                <a:solidFill>
                  <a:srgbClr val="263A34"/>
                </a:solidFill>
              </a:rPr>
              <a:t>Contribute</a:t>
            </a:r>
            <a:endParaRPr sz="2100" b="1">
              <a:solidFill>
                <a:srgbClr val="263A34"/>
              </a:solidFill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127248" y="2596896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Capture a photo, location, date and what you noticed.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02930" y="3566160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995300" y="3578926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100" b="1">
                <a:solidFill>
                  <a:srgbClr val="263A34"/>
                </a:solidFill>
              </a:rPr>
              <a:t>Submit</a:t>
            </a:r>
            <a:endParaRPr sz="2100" b="1">
              <a:solidFill>
                <a:srgbClr val="263A34"/>
              </a:solidFill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3127248" y="3566160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Check the details before sending them for the creator to review.</a:t>
            </a:r>
            <a:endParaRPr sz="1800">
              <a:solidFill>
                <a:srgbClr val="263A34"/>
              </a:solidFill>
            </a:endParaRPr>
          </a:p>
        </p:txBody>
      </p:sp>
      <p:pic>
        <p:nvPicPr>
          <p:cNvPr id="185" name="Google Shape;185;p19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02920" y="1192907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 b="1">
                <a:solidFill>
                  <a:srgbClr val="0A6268"/>
                </a:solidFill>
              </a:rPr>
              <a:t>PROPOSED PRODUCT FLOW</a:t>
            </a:r>
            <a:endParaRPr sz="1000" b="1">
              <a:solidFill>
                <a:srgbClr val="0A6268"/>
              </a:solidFill>
            </a:endParaRPr>
          </a:p>
        </p:txBody>
      </p:sp>
      <p:pic>
        <p:nvPicPr>
          <p:cNvPr id="1" name="Slide 07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4218305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3975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INTERACTIVE PROTOTYPE</a:t>
            </a:r>
            <a:endParaRPr lang="en-US" sz="10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you can try today.</a:t>
            </a:r>
            <a:endParaRPr lang="en-US" sz="30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08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640080" y="1627632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01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298448" y="1627632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Browse</a:t>
            </a:r>
            <a:endParaRPr lang="en-US" sz="21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127248" y="1627632"/>
            <a:ext cx="513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Open four example topics and sample maps.</a:t>
            </a:r>
            <a:endParaRPr lang="en-US" sz="1800" b="0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40080" y="2596896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02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298448" y="2596896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Explore</a:t>
            </a:r>
            <a:endParaRPr lang="en-US" sz="21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127248" y="2596896"/>
            <a:ext cx="513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Follow QR links to phone-friendly demos.</a:t>
            </a:r>
            <a:endParaRPr lang="en-US" sz="1800" b="0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40080" y="3566160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03</a:t>
            </a:r>
            <a:endParaRPr lang="en-US" sz="21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298448" y="3566160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Preview</a:t>
            </a:r>
            <a:endParaRPr lang="en-US" sz="21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127248" y="3566160"/>
            <a:ext cx="513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Select a photo and review a sample capture.</a:t>
            </a:r>
            <a:endParaRPr lang="en-US" sz="1800" b="0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67512" y="4507992"/>
            <a:ext cx="79554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Sample pins are fictional. The current demo does not save or publish observations.</a:t>
            </a:r>
            <a:endParaRPr lang="en-US" sz="11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7" name="Google Shape;207;p20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Slide 0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417957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3457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A6268"/>
                </a:solidFill>
              </a:rPr>
              <a:t>THE SOLUTION</a:t>
            </a:r>
            <a:endParaRPr sz="1000" b="1">
              <a:solidFill>
                <a:srgbClr val="0A6268"/>
              </a:solidFill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09</a:t>
            </a:r>
            <a:endParaRPr lang="en-US" sz="900">
              <a:solidFill>
                <a:srgbClr val="60716C"/>
              </a:solidFill>
            </a:endParaRPr>
          </a:p>
        </p:txBody>
      </p:sp>
      <p:pic>
        <p:nvPicPr>
          <p:cNvPr id="216" name="Google Shape;216;p21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F</a:t>
            </a:r>
            <a:r>
              <a:rPr lang="en-US" sz="30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examples to showcase</a:t>
            </a:r>
            <a:endParaRPr lang="en-US" sz="30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1126625" y="1086063"/>
          <a:ext cx="6890750" cy="3451075"/>
        </p:xfrm>
        <a:graphic>
          <a:graphicData uri="http://schemas.openxmlformats.org/drawingml/2006/table">
            <a:tbl>
              <a:tblPr>
                <a:noFill/>
                <a:tableStyleId>{7A0DFA97-2353-4922-9D6B-892FB966012F}</a:tableStyleId>
              </a:tblPr>
              <a:tblGrid>
                <a:gridCol w="3445375"/>
                <a:gridCol w="3445375"/>
              </a:tblGrid>
              <a:tr h="1363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5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B84A3A"/>
                          </a:solidFill>
                        </a:rPr>
                        <a:t>Heat relief</a:t>
                      </a:r>
                      <a:endParaRPr lang="en-US" spc="-76">
                        <a:solidFill>
                          <a:srgbClr val="B84A3A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28638B"/>
                          </a:solidFill>
                        </a:rPr>
                        <a:t>Accessibility</a:t>
                      </a:r>
                      <a:endParaRPr lang="en-US" spc="-76">
                        <a:solidFill>
                          <a:srgbClr val="28638B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54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4F6B45"/>
                          </a:solidFill>
                        </a:rPr>
                        <a:t>Wildlife sightings</a:t>
                      </a:r>
                      <a:endParaRPr lang="en-US" spc="-76">
                        <a:solidFill>
                          <a:srgbClr val="4F6B45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52616B"/>
                          </a:solidFill>
                        </a:rPr>
                        <a:t>Municipal maintenance</a:t>
                      </a:r>
                      <a:endParaRPr lang="en-US" spc="-76">
                        <a:solidFill>
                          <a:srgbClr val="52616B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9" name="Google Shape;219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340300" y="1217218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652950" y="1217226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40300" y="2938626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652950" y="2938626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Slide 09">
            <a:hlinkClick r:id="" action="ppaction://media"/>
          </p:cNvPr>
          <p:cNvPicPr/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29600" y="4227195"/>
            <a:ext cx="619125" cy="619125"/>
          </a:xfrm>
          <a:prstGeom prst="rect">
            <a:avLst/>
          </a:prstGeom>
        </p:spPr>
      </p:pic>
      <p:sp>
        <p:nvSpPr>
          <p:cNvPr id="230" name="Google Shape;230;p22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4006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A6268"/>
                </a:solidFill>
              </a:rPr>
              <a:t>FIRST </a:t>
            </a:r>
            <a:r>
              <a:rPr lang="en-US" sz="10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PILOT</a:t>
            </a:r>
            <a:endParaRPr lang="en-US" sz="10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Start with Houston.</a:t>
            </a:r>
            <a:endParaRPr lang="en-US" sz="3000" b="1">
              <a:solidFill>
                <a:srgbClr val="263A34"/>
              </a:solidFill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10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71635" y="1217158"/>
            <a:ext cx="80466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200">
                <a:solidFill>
                  <a:srgbClr val="263A34"/>
                </a:solidFill>
              </a:rPr>
              <a:t>Invite a hackathon team whose idea needs a community map, collaborate and implement it. </a:t>
            </a:r>
            <a:endParaRPr sz="2200">
              <a:solidFill>
                <a:srgbClr val="263A34"/>
              </a:solidFill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12648" y="2850875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A6268"/>
                </a:solidFill>
              </a:rPr>
              <a:t>Initial reach:</a:t>
            </a:r>
            <a:endParaRPr lang="en-US" sz="1700" b="1">
              <a:solidFill>
                <a:srgbClr val="0A6268"/>
              </a:solidFill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2610131" y="2850875"/>
            <a:ext cx="5540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263A34"/>
                </a:solidFill>
              </a:rPr>
              <a:t>Pilot a few Houston projects.</a:t>
            </a:r>
            <a:endParaRPr sz="1700">
              <a:solidFill>
                <a:srgbClr val="263A34"/>
              </a:solidFill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612648" y="343500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A6268"/>
                </a:solidFill>
              </a:rPr>
              <a:t>Long-term impact:</a:t>
            </a:r>
            <a:endParaRPr lang="en-US" sz="1700" b="1">
              <a:solidFill>
                <a:srgbClr val="0A6268"/>
              </a:solidFill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2610131" y="3435000"/>
            <a:ext cx="5540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63A34"/>
                </a:solidFill>
              </a:rPr>
              <a:t>Make Anole an API for other projects.</a:t>
            </a:r>
            <a:endParaRPr sz="1700">
              <a:solidFill>
                <a:srgbClr val="263A34"/>
              </a:solidFill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612650" y="4019125"/>
            <a:ext cx="2544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A6268"/>
                </a:solidFill>
              </a:rPr>
              <a:t>Measure:</a:t>
            </a:r>
            <a:endParaRPr lang="en-US" sz="1700" b="1">
              <a:solidFill>
                <a:srgbClr val="0A6268"/>
              </a:solidFill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610125" y="4019125"/>
            <a:ext cx="6076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263A34"/>
                </a:solidFill>
              </a:rPr>
              <a:t>Track Active projects, contributors, observations and map use.</a:t>
            </a:r>
            <a:endParaRPr sz="1700">
              <a:solidFill>
                <a:srgbClr val="263A34"/>
              </a:solidFill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612648" y="226675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A6268"/>
                </a:solidFill>
              </a:rPr>
              <a:t>Who benefits?</a:t>
            </a:r>
            <a:endParaRPr lang="en-US" sz="1700" b="1">
              <a:solidFill>
                <a:srgbClr val="0A6268"/>
              </a:solidFill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2610131" y="2266750"/>
            <a:ext cx="5540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263A34"/>
                </a:solidFill>
              </a:rPr>
              <a:t>Founders, organisers and their communities.</a:t>
            </a:r>
            <a:endParaRPr sz="1700">
              <a:solidFill>
                <a:srgbClr val="263A34"/>
              </a:solidFill>
            </a:endParaRPr>
          </a:p>
        </p:txBody>
      </p:sp>
      <p:pic>
        <p:nvPicPr>
          <p:cNvPr id="242" name="Google Shape;242;p22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Slide 10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416306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4184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A6268"/>
                </a:solidFill>
              </a:rPr>
              <a:t>WHATS NEXT</a:t>
            </a:r>
            <a:endParaRPr lang="en-US" sz="1000" b="1">
              <a:solidFill>
                <a:srgbClr val="0A6268"/>
              </a:solidFill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263A34"/>
                </a:solidFill>
              </a:rPr>
              <a:t>The plan forward wishlist</a:t>
            </a:r>
            <a:endParaRPr lang="en-US" sz="3000" b="1">
              <a:solidFill>
                <a:srgbClr val="263A34"/>
              </a:solidFill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11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80660" y="1123940"/>
            <a:ext cx="2541900" cy="822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470164" y="1123940"/>
            <a:ext cx="2541900" cy="82200"/>
          </a:xfrm>
          <a:prstGeom prst="rect">
            <a:avLst/>
          </a:prstGeom>
          <a:solidFill>
            <a:srgbClr val="52616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359668" y="1123940"/>
            <a:ext cx="2541900" cy="82200"/>
          </a:xfrm>
          <a:prstGeom prst="rect">
            <a:avLst/>
          </a:prstGeom>
          <a:solidFill>
            <a:srgbClr val="28638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576147" y="1474733"/>
            <a:ext cx="8046600" cy="29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Complete the backend, creator dashboard, accounts and moderation.</a:t>
            </a:r>
            <a:endParaRPr sz="1900">
              <a:solidFill>
                <a:srgbClr val="263A34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Pilot with a few Houston projects and test demand, capacity and costs.</a:t>
            </a:r>
            <a:endParaRPr sz="1900">
              <a:solidFill>
                <a:srgbClr val="263A34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Build a mobile-friendly web app with a secure API and protected photo uploads.</a:t>
            </a:r>
            <a:endParaRPr sz="1900">
              <a:solidFill>
                <a:srgbClr val="263A34"/>
              </a:solidFill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Add the authentication, access controls and monitoring needed to scale.</a:t>
            </a:r>
            <a:endParaRPr sz="1900">
              <a:solidFill>
                <a:srgbClr val="263A3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sz="1900">
              <a:solidFill>
                <a:srgbClr val="263A3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900" b="1">
                <a:solidFill>
                  <a:srgbClr val="263A34"/>
                </a:solidFill>
              </a:rPr>
              <a:t>Long-term goal</a:t>
            </a:r>
            <a:r>
              <a:rPr lang="en-US" sz="1900">
                <a:solidFill>
                  <a:srgbClr val="263A34"/>
                </a:solidFill>
              </a:rPr>
              <a:t>: build a community to improve on Anole through an API.</a:t>
            </a:r>
            <a:endParaRPr sz="1900">
              <a:solidFill>
                <a:srgbClr val="263A34"/>
              </a:solidFill>
            </a:endParaRPr>
          </a:p>
        </p:txBody>
      </p:sp>
      <p:pic>
        <p:nvPicPr>
          <p:cNvPr id="257" name="Google Shape;257;p23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Slide 11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03235" y="416306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1394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A"/>
        </a:solidFill>
        <a:effectLst/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A626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</a:t>
            </a:r>
            <a:endParaRPr lang="en-US" sz="1000" b="1" i="0" u="none" strike="noStrike" cap="none">
              <a:solidFill>
                <a:srgbClr val="0A626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480057" y="553117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people behind Anole.</a:t>
            </a:r>
            <a:endParaRPr lang="en-US" sz="30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0716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60716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12</a:t>
            </a:r>
            <a:endParaRPr lang="en-US" sz="900">
              <a:solidFill>
                <a:srgbClr val="60716C"/>
              </a:solidFill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484798" y="1143863"/>
            <a:ext cx="374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Johann Ries</a:t>
            </a:r>
            <a:endParaRPr lang="en-US" sz="26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484798" y="1618647"/>
            <a:ext cx="7772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Founder. Built the concept and interactive demo.</a:t>
            </a:r>
            <a:endParaRPr lang="en-US" sz="1800" b="0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562342" y="1970431"/>
            <a:ext cx="7909500" cy="183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484798" y="2063315"/>
            <a:ext cx="374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Michael To</a:t>
            </a:r>
            <a:endParaRPr lang="en-US" sz="2600" b="1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484798" y="2538100"/>
            <a:ext cx="781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3A34"/>
                </a:solidFill>
              </a:rPr>
              <a:t>Reviewer and </a:t>
            </a:r>
            <a:r>
              <a:rPr lang="en-US" sz="1800" b="0" i="0" u="none" strike="noStrike" cap="none">
                <a:solidFill>
                  <a:srgbClr val="263A3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Security advisor. Outlined a production architecture and secure upload approach.</a:t>
            </a:r>
            <a:endParaRPr lang="en-US" sz="1800" b="0" i="0" u="none" strike="noStrike" cap="none">
              <a:solidFill>
                <a:srgbClr val="263A3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484798" y="3259668"/>
            <a:ext cx="374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63A34"/>
                </a:solidFill>
              </a:rPr>
              <a:t>Bole</a:t>
            </a:r>
            <a:endParaRPr lang="en-US" sz="2600" b="1">
              <a:solidFill>
                <a:srgbClr val="263A34"/>
              </a:solidFill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484798" y="3734452"/>
            <a:ext cx="781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3A34"/>
                </a:solidFill>
              </a:rPr>
              <a:t>Mascot and curious observer.Bole is our reminder to look closely, share what we find, and notice ideas that help.</a:t>
            </a:r>
            <a:endParaRPr lang="en-US" sz="1800">
              <a:solidFill>
                <a:srgbClr val="263A34"/>
              </a:solidFill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562367" y="3166784"/>
            <a:ext cx="7909500" cy="183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4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Slide 12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417957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6070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268"/>
        </a:solidFill>
        <a:effectLst/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  /  HOUSTON HACKATHON 2026</a:t>
            </a:r>
            <a:endParaRPr lang="en-US" sz="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4" name="Google Shape;284;p25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13</a:t>
            </a:r>
            <a:endParaRPr lang="en-US" sz="900">
              <a:solidFill>
                <a:srgbClr val="FFFFFF"/>
              </a:solidFill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576072" y="950976"/>
            <a:ext cx="795527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Help us test one useful community map.</a:t>
            </a:r>
            <a:endParaRPr lang="en-US" sz="32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594360" y="2404872"/>
            <a:ext cx="784555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 are looking for a pilot community and people willing to review the demo. The next build adds secure storage, moderation and a way to publish observations.</a:t>
            </a:r>
            <a:endParaRPr lang="en-US" sz="19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594360" y="4114800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0" rIns="91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anole.duckdns.org   /   heinries@gmail.com</a:t>
            </a:r>
            <a:endParaRPr lang="en-US" sz="1900" b="1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8" name="Google Shape;288;p25" title="anole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50550" y="3210501"/>
            <a:ext cx="2044800" cy="163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Slide 13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29600" y="4179570"/>
            <a:ext cx="619125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2935" fill="hold"/>
                                        <p:tgtEl>
                                          <p:spTgt spid="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4206</Words>
  <Application>WPS Presentation</Application>
  <PresentationFormat/>
  <Paragraphs>244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微软雅黑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johann</cp:lastModifiedBy>
  <cp:revision>1</cp:revision>
  <dcterms:created xsi:type="dcterms:W3CDTF">2026-09-27T18:21:04Z</dcterms:created>
  <dcterms:modified xsi:type="dcterms:W3CDTF">2026-09-27T18:21:04Z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